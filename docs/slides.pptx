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9586c4c5-a32f-f171-16c0-15e8e8d75f29}">
          <p14:sldIdLst>
            <p14:sldId id="256"/>
            <p14:sldId id="257"/>
          </p14:sldIdLst>
        </p14:section>
        <p14:section name="Data" id="{d0363fca-048b-bd1e-358e-155c2dd8a9c8}">
          <p14:sldIdLst>
            <p14:sldId id="258"/>
            <p14:sldId id="259"/>
          </p14:sldIdLst>
        </p14:section>
        <p14:section name="Model" id="{9946c4c1-54e7-7cd5-197d-86c8414cfee4}">
          <p14:sldIdLst>
            <p14:sldId id="260"/>
            <p14:sldId id="261"/>
            <p14:sldId id="262"/>
          </p14:sldIdLst>
        </p14:section>
        <p14:section name="Marketing" id="{da4efd5f-ac42-0c0a-170b-64d217617271}">
          <p14:sldIdLst>
            <p14:sldId id="263"/>
          </p14:sldIdLst>
        </p14:section>
        <p14:section name="Close" id="{56503c34-aed7-91bc-dd39-8b3c47741bde}">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B2D42"/>
                </a:solidFill>
                <a:latin typeface="+mn-lt"/>
              </a:defRPr>
            </a:pPr>
            <a:r>
              <a:rPr sz="1400" b="0" i="0" u="none" strike="noStrike">
                <a:solidFill>
                  <a:srgbClr val="2B2D42"/>
                </a:solidFill>
                <a:latin typeface="+mn-lt"/>
              </a:rPr>
              <a:t>Rows removed by each rule</a:t>
            </a:r>
          </a:p>
        </c:rich>
      </c:tx>
      <c:layout/>
      <c:overlay val="0"/>
    </c:title>
    <c:autoTitleDeleted val="0"/>
    <c:plotArea>
      <c:layout/>
      <c:barChart>
        <c:barDir val="bar"/>
        <c:grouping val="clustered"/>
        <c:varyColors val="0"/>
        <c:ser>
          <c:idx val="0"/>
          <c:order val="0"/>
          <c:tx>
            <c:strRef>
              <c:f>Sheet1!$B$1</c:f>
              <c:strCache>
                <c:ptCount val="1"/>
                <c:pt idx="0">
                  <c:v>Rows removed</c:v>
                </c:pt>
              </c:strCache>
            </c:strRef>
          </c:tx>
          <c:spPr>
            <a:solidFill>
              <a:srgbClr val="B85042"/>
            </a:solidFill>
            <a:effectLst/>
          </c:spPr>
          <c:invertIfNegative val="0"/>
          <c:dLbls>
            <c:numFmt formatCode="#,##0" sourceLinked="0"/>
            <c:txPr>
              <a:bodyPr/>
              <a:lstStyle/>
              <a:p>
                <a:pPr>
                  <a:defRPr b="0" i="0" strike="noStrike" sz="1200" u="none">
                    <a:solidFill>
                      <a:srgbClr val="2B2D42"/>
                    </a:solidFill>
                    <a:latin typeface="+mn-lt"/>
                  </a:defRPr>
                </a:pPr>
              </a:p>
            </c:txPr>
            <c:showLegendKey val="0"/>
            <c:showVal val="1"/>
            <c:showCatName val="0"/>
            <c:showSerName val="0"/>
            <c:showPercent val="0"/>
            <c:showBubbleSize val="0"/>
            <c:showLeaderLines val="0"/>
          </c:dLbls>
          <c:cat>
            <c:multiLvlStrRef>
              <c:f>Sheet1!$A$2:$A$7</c:f>
              <c:multiLvlStrCache>
                <c:ptCount val="6"/>
                <c:lvl>
                  <c:pt idx="0">
                    <c:v>No customer ID</c:v>
                  </c:pt>
                  <c:pt idx="1">
                    <c:v>Exact duplicates</c:v>
                  </c:pt>
                  <c:pt idx="2">
                    <c:v>Cancellations</c:v>
                  </c:pt>
                  <c:pt idx="3">
                    <c:v>Non-product codes</c:v>
                  </c:pt>
                  <c:pt idx="4">
                    <c:v>Fully returned items</c:v>
                  </c:pt>
                  <c:pt idx="5">
                    <c:v>Zero or negative price</c:v>
                  </c:pt>
                </c:lvl>
              </c:multiLvlStrCache>
            </c:multiLvlStrRef>
          </c:cat>
          <c:val>
            <c:numRef>
              <c:f>Sheet1!$B$2:$B$7</c:f>
              <c:numCache>
                <c:formatCode>General</c:formatCode>
                <c:ptCount val="6"/>
                <c:pt idx="0">
                  <c:v>243007</c:v>
                </c:pt>
                <c:pt idx="1">
                  <c:v>26479</c:v>
                </c:pt>
                <c:pt idx="2">
                  <c:v>17586</c:v>
                </c:pt>
                <c:pt idx="3">
                  <c:v>3662</c:v>
                </c:pt>
                <c:pt idx="4">
                  <c:v>3361</c:v>
                </c:pt>
                <c:pt idx="5">
                  <c:v>60</c:v>
                </c:pt>
              </c:numCache>
            </c:numRef>
          </c:val>
        </c:ser>
        <c:dLbls>
          <c:numFmt formatCode="#,##0" sourceLinked="0"/>
          <c:txPr>
            <a:bodyPr/>
            <a:lstStyle/>
            <a:p>
              <a:pPr>
                <a:defRPr b="0" i="0" strike="noStrike" sz="1200" u="none">
                  <a:solidFill>
                    <a:srgbClr val="2B2D42"/>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B2D42"/>
                </a:solidFill>
                <a:latin typeface="+mn-lt"/>
              </a:defRPr>
            </a:pPr>
            <a:endParaRPr lang="en-US"/>
          </a:p>
        </c:txPr>
        <c:crossAx val="2094734552"/>
        <c:crosses val="autoZero"/>
        <c:auto val="1"/>
        <c:lblAlgn val="ctr"/>
        <c:noMultiLvlLbl val="1"/>
      </c:catAx>
      <c:valAx>
        <c:axId val="2094734552"/>
        <c:scaling>
          <c:orientation val="minMax"/>
          <c:max val="3000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B2D42"/>
                </a:solidFill>
                <a:latin typeface="+mn-lt"/>
              </a:defRPr>
            </a:pPr>
            <a:r>
              <a:rPr sz="1400" b="0" i="0" u="none" strike="noStrike">
                <a:solidFill>
                  <a:srgbClr val="2B2D42"/>
                </a:solidFill>
                <a:latin typeface="+mn-lt"/>
              </a:rPr>
              <a:t>Validation hit rate at 10 (%) by k</a:t>
            </a:r>
          </a:p>
        </c:rich>
      </c:tx>
      <c:layout/>
      <c:overlay val="0"/>
    </c:title>
    <c:autoTitleDeleted val="0"/>
    <c:plotArea>
      <c:layout/>
      <c:lineChart>
        <c:varyColors val="0"/>
        <c:ser>
          <c:idx val="0"/>
          <c:order val="0"/>
          <c:tx>
            <c:strRef>
              <c:f>Sheet1!$B$1</c:f>
              <c:strCache>
                <c:ptCount val="1"/>
                <c:pt idx="0">
                  <c:v>dot product (chosen)</c:v>
                </c:pt>
              </c:strCache>
            </c:strRef>
          </c:tx>
          <c:spPr>
            <a:solidFill>
              <a:srgbClr val="B85042"/>
            </a:solidFill>
            <a:ln w="31750" cap="flat">
              <a:solidFill>
                <a:srgbClr val="B8504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B85042"/>
              </a:solidFill>
              <a:ln w="9525" cap="flat">
                <a:solidFill>
                  <a:srgbClr val="B85042"/>
                </a:solidFill>
                <a:prstDash val="solid"/>
                <a:round/>
              </a:ln>
              <a:effectLst/>
            </c:spPr>
          </c:marker>
          <c:cat>
            <c:multiLvlStrRef>
              <c:f>Sheet1!$A$2:$A$6</c:f>
              <c:multiLvlStrCache>
                <c:ptCount val="5"/>
                <c:lvl>
                  <c:pt idx="0">
                    <c:v>10</c:v>
                  </c:pt>
                  <c:pt idx="1">
                    <c:v>20</c:v>
                  </c:pt>
                  <c:pt idx="2">
                    <c:v>50</c:v>
                  </c:pt>
                  <c:pt idx="3">
                    <c:v>100</c:v>
                  </c:pt>
                  <c:pt idx="4">
                    <c:v>200</c:v>
                  </c:pt>
                </c:lvl>
              </c:multiLvlStrCache>
            </c:multiLvlStrRef>
          </c:cat>
          <c:val>
            <c:numRef>
              <c:f>Sheet1!$B$2:$B$6</c:f>
              <c:numCache>
                <c:formatCode>General</c:formatCode>
                <c:ptCount val="5"/>
                <c:pt idx="0">
                  <c:v>33.7</c:v>
                </c:pt>
                <c:pt idx="1">
                  <c:v>36.5</c:v>
                </c:pt>
                <c:pt idx="2">
                  <c:v>40.2</c:v>
                </c:pt>
                <c:pt idx="3">
                  <c:v>41.9</c:v>
                </c:pt>
                <c:pt idx="4">
                  <c:v>39.2</c:v>
                </c:pt>
              </c:numCache>
            </c:numRef>
          </c:val>
          <c:smooth val="0"/>
        </c:ser>
        <c:ser>
          <c:idx val="1"/>
          <c:order val="1"/>
          <c:tx>
            <c:strRef>
              <c:f>Sheet1!$C$1</c:f>
              <c:strCache>
                <c:ptCount val="1"/>
                <c:pt idx="0">
                  <c:v>cosine VS</c:v>
                </c:pt>
              </c:strCache>
            </c:strRef>
          </c:tx>
          <c:spPr>
            <a:solidFill>
              <a:srgbClr val="6C8E7B"/>
            </a:solidFill>
            <a:ln w="31750" cap="flat">
              <a:solidFill>
                <a:srgbClr val="6C8E7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6C8E7B"/>
              </a:solidFill>
              <a:ln w="9525" cap="flat">
                <a:solidFill>
                  <a:srgbClr val="6C8E7B"/>
                </a:solidFill>
                <a:prstDash val="solid"/>
                <a:round/>
              </a:ln>
              <a:effectLst/>
            </c:spPr>
          </c:marker>
          <c:cat>
            <c:multiLvlStrRef>
              <c:f>Sheet1!$A$2:$A$6</c:f>
              <c:multiLvlStrCache>
                <c:ptCount val="5"/>
                <c:lvl>
                  <c:pt idx="0">
                    <c:v>10</c:v>
                  </c:pt>
                  <c:pt idx="1">
                    <c:v>20</c:v>
                  </c:pt>
                  <c:pt idx="2">
                    <c:v>50</c:v>
                  </c:pt>
                  <c:pt idx="3">
                    <c:v>100</c:v>
                  </c:pt>
                  <c:pt idx="4">
                    <c:v>200</c:v>
                  </c:pt>
                </c:lvl>
              </c:multiLvlStrCache>
            </c:multiLvlStrRef>
          </c:cat>
          <c:val>
            <c:numRef>
              <c:f>Sheet1!$C$2:$C$6</c:f>
              <c:numCache>
                <c:formatCode>General</c:formatCode>
                <c:ptCount val="5"/>
                <c:pt idx="0">
                  <c:v>9.3</c:v>
                </c:pt>
                <c:pt idx="1">
                  <c:v>13.2</c:v>
                </c:pt>
                <c:pt idx="2">
                  <c:v>18.3</c:v>
                </c:pt>
                <c:pt idx="3">
                  <c:v>23.1</c:v>
                </c:pt>
                <c:pt idx="4">
                  <c:v>33.2</c:v>
                </c:pt>
              </c:numCache>
            </c:numRef>
          </c:val>
          <c:smooth val="0"/>
        </c:ser>
        <c:ser>
          <c:idx val="2"/>
          <c:order val="2"/>
          <c:tx>
            <c:strRef>
              <c:f>Sheet1!$D$1</c:f>
              <c:strCache>
                <c:ptCount val="1"/>
                <c:pt idx="0">
                  <c:v>cosine V (starter code)</c:v>
                </c:pt>
              </c:strCache>
            </c:strRef>
          </c:tx>
          <c:spPr>
            <a:solidFill>
              <a:srgbClr val="4A6FA5"/>
            </a:solidFill>
            <a:ln w="31750" cap="flat">
              <a:solidFill>
                <a:srgbClr val="4A6FA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4A6FA5"/>
              </a:solidFill>
              <a:ln w="9525" cap="flat">
                <a:solidFill>
                  <a:srgbClr val="4A6FA5"/>
                </a:solidFill>
                <a:prstDash val="solid"/>
                <a:round/>
              </a:ln>
              <a:effectLst/>
            </c:spPr>
          </c:marker>
          <c:cat>
            <c:multiLvlStrRef>
              <c:f>Sheet1!$A$2:$A$6</c:f>
              <c:multiLvlStrCache>
                <c:ptCount val="5"/>
                <c:lvl>
                  <c:pt idx="0">
                    <c:v>10</c:v>
                  </c:pt>
                  <c:pt idx="1">
                    <c:v>20</c:v>
                  </c:pt>
                  <c:pt idx="2">
                    <c:v>50</c:v>
                  </c:pt>
                  <c:pt idx="3">
                    <c:v>100</c:v>
                  </c:pt>
                  <c:pt idx="4">
                    <c:v>200</c:v>
                  </c:pt>
                </c:lvl>
              </c:multiLvlStrCache>
            </c:multiLvlStrRef>
          </c:cat>
          <c:val>
            <c:numRef>
              <c:f>Sheet1!$D$2:$D$6</c:f>
              <c:numCache>
                <c:formatCode>General</c:formatCode>
                <c:ptCount val="5"/>
                <c:pt idx="0">
                  <c:v>12.7</c:v>
                </c:pt>
                <c:pt idx="1">
                  <c:v>17</c:v>
                </c:pt>
                <c:pt idx="2">
                  <c:v>21.5</c:v>
                </c:pt>
                <c:pt idx="3">
                  <c:v>24</c:v>
                </c:pt>
                <c:pt idx="4">
                  <c:v>23</c:v>
                </c:pt>
              </c:numCache>
            </c:numRef>
          </c:val>
          <c:smooth val="0"/>
        </c:ser>
        <c:ser>
          <c:idx val="3"/>
          <c:order val="3"/>
          <c:tx>
            <c:strRef>
              <c:f>Sheet1!$E$1</c:f>
              <c:strCache>
                <c:ptCount val="1"/>
                <c:pt idx="0">
                  <c:v>best sellers</c:v>
                </c:pt>
              </c:strCache>
            </c:strRef>
          </c:tx>
          <c:spPr>
            <a:solidFill>
              <a:srgbClr val="9AA0A6"/>
            </a:solidFill>
            <a:ln w="31750" cap="flat">
              <a:solidFill>
                <a:srgbClr val="9AA0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9AA0A6"/>
              </a:solidFill>
              <a:ln w="9525" cap="flat">
                <a:solidFill>
                  <a:srgbClr val="9AA0A6"/>
                </a:solidFill>
                <a:prstDash val="solid"/>
                <a:round/>
              </a:ln>
              <a:effectLst/>
            </c:spPr>
          </c:marker>
          <c:cat>
            <c:multiLvlStrRef>
              <c:f>Sheet1!$A$2:$A$6</c:f>
              <c:multiLvlStrCache>
                <c:ptCount val="5"/>
                <c:lvl>
                  <c:pt idx="0">
                    <c:v>10</c:v>
                  </c:pt>
                  <c:pt idx="1">
                    <c:v>20</c:v>
                  </c:pt>
                  <c:pt idx="2">
                    <c:v>50</c:v>
                  </c:pt>
                  <c:pt idx="3">
                    <c:v>100</c:v>
                  </c:pt>
                  <c:pt idx="4">
                    <c:v>200</c:v>
                  </c:pt>
                </c:lvl>
              </c:multiLvlStrCache>
            </c:multiLvlStrRef>
          </c:cat>
          <c:val>
            <c:numRef>
              <c:f>Sheet1!$E$2:$E$6</c:f>
              <c:numCache>
                <c:formatCode>General</c:formatCode>
                <c:ptCount val="5"/>
                <c:pt idx="0">
                  <c:v>24.9</c:v>
                </c:pt>
                <c:pt idx="1">
                  <c:v>24.9</c:v>
                </c:pt>
                <c:pt idx="2">
                  <c:v>24.9</c:v>
                </c:pt>
                <c:pt idx="3">
                  <c:v>24.9</c:v>
                </c:pt>
                <c:pt idx="4">
                  <c:v>24.9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2B2D42"/>
                    </a:solidFill>
                    <a:latin typeface="Arial"/>
                  </a:defRPr>
                </a:pPr>
                <a:r>
                  <a:rPr sz="1200" b="0" i="0" u="none" strike="noStrike">
                    <a:solidFill>
                      <a:srgbClr val="2B2D42"/>
                    </a:solidFill>
                    <a:latin typeface="Arial"/>
                  </a:rPr>
                  <a:t>k (number of components)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B2D42"/>
                </a:solidFill>
                <a:latin typeface="+mn-lt"/>
              </a:defRPr>
            </a:pPr>
            <a:endParaRPr lang="en-US"/>
          </a:p>
        </c:txPr>
        <c:crossAx val="2094734552"/>
        <c:crosses val="autoZero"/>
        <c:auto val="1"/>
        <c:lblAlgn val="ctr"/>
        <c:noMultiLvlLbl val="1"/>
      </c:catAx>
      <c:valAx>
        <c:axId val="2094734552"/>
        <c:scaling>
          <c:orientation val="minMax"/>
          <c:max val="50"/>
          <c:min val="0"/>
        </c:scaling>
        <c:delete val="0"/>
        <c:axPos val="l"/>
        <c:majorGridlines>
          <c:spPr>
            <a:ln w="9525" cap="flat">
              <a:solidFill>
                <a:srgbClr val="DDE1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2B2D42"/>
                </a:solidFill>
                <a:latin typeface="+mn-lt"/>
              </a:defRPr>
            </a:pPr>
            <a:endParaRPr lang="en-US"/>
          </a:p>
        </c:txPr>
        <c:crossAx val="2094734554"/>
        <c:crosses val="autoZero"/>
        <c:crossBetween val="between"/>
        <c:majorUnit val="10"/>
      </c:valAx>
      <c:spPr>
        <a:noFill/>
        <a:ln>
          <a:noFill/>
        </a:ln>
        <a:effectLst/>
      </c:spPr>
    </c:plotArea>
    <c:legend>
      <c:legendPos val="b"/>
      <c:overlay val="0"/>
      <c:txPr>
        <a:bodyPr/>
        <a:lstStyle/>
        <a:p>
          <a:pPr>
            <a:defRPr sz="1200">
              <a:solidFill>
                <a:srgbClr val="2B2D42"/>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B2D42"/>
                </a:solidFill>
                <a:latin typeface="+mn-lt"/>
              </a:defRPr>
            </a:pPr>
            <a:r>
              <a:rPr sz="1400" b="0" i="0" u="none" strike="noStrike">
                <a:solidFill>
                  <a:srgbClr val="2B2D42"/>
                </a:solidFill>
                <a:latin typeface="+mn-lt"/>
              </a:rPr>
              <a:t>Hit rate at 10 (%), 1,919 test customers</a:t>
            </a:r>
          </a:p>
        </c:rich>
      </c:tx>
      <c:layout/>
      <c:overlay val="0"/>
    </c:title>
    <c:autoTitleDeleted val="0"/>
    <c:plotArea>
      <c:layout/>
      <c:barChart>
        <c:barDir val="col"/>
        <c:grouping val="clustered"/>
        <c:varyColors val="0"/>
        <c:ser>
          <c:idx val="0"/>
          <c:order val="0"/>
          <c:tx>
            <c:strRef>
              <c:f>Sheet1!$B$1</c:f>
              <c:strCache>
                <c:ptCount val="1"/>
                <c:pt idx="0">
                  <c:v>Hit rate at 10</c:v>
                </c:pt>
              </c:strCache>
            </c:strRef>
          </c:tx>
          <c:spPr>
            <a:solidFill>
              <a:srgbClr val="9AA0A6"/>
            </a:solidFill>
            <a:effectLst/>
          </c:spPr>
          <c:invertIfNegative val="0"/>
          <c:dLbls>
            <c:numFmt formatCode="0.0&quot;%&quot;" sourceLinked="0"/>
            <c:txPr>
              <a:bodyPr/>
              <a:lstStyle/>
              <a:p>
                <a:pPr>
                  <a:defRPr b="1" i="0" strike="noStrike" sz="1600" u="none">
                    <a:solidFill>
                      <a:srgbClr val="2B2D42"/>
                    </a:solidFill>
                    <a:latin typeface="+mn-lt"/>
                  </a:defRPr>
                </a:pPr>
              </a:p>
            </c:txPr>
            <c:showLegendKey val="0"/>
            <c:showVal val="1"/>
            <c:showCatName val="0"/>
            <c:showSerName val="0"/>
            <c:showPercent val="0"/>
            <c:showBubbleSize val="0"/>
            <c:showLeaderLines val="0"/>
          </c:dLbls>
          <c:dPt>
            <c:idx val="0"/>
            <c:invertIfNegative val="0"/>
            <c:bubble3D val="0"/>
            <c:spPr>
              <a:solidFill>
                <a:srgbClr val="9AA0A6"/>
              </a:solidFill>
              <a:effectLst/>
            </c:spPr>
          </c:dPt>
          <c:dPt>
            <c:idx val="1"/>
            <c:invertIfNegative val="0"/>
            <c:bubble3D val="0"/>
            <c:spPr>
              <a:solidFill>
                <a:srgbClr val="B85042"/>
              </a:solidFill>
              <a:effectLst/>
            </c:spPr>
          </c:dPt>
          <c:cat>
            <c:multiLvlStrRef>
              <c:f>Sheet1!$A$2:$A$3</c:f>
              <c:multiLvlStrCache>
                <c:ptCount val="2"/>
                <c:lvl>
                  <c:pt idx="0">
                    <c:v>Best sellers</c:v>
                  </c:pt>
                  <c:pt idx="1">
                    <c:v>SVD, k = 100</c:v>
                  </c:pt>
                </c:lvl>
              </c:multiLvlStrCache>
            </c:multiLvlStrRef>
          </c:cat>
          <c:val>
            <c:numRef>
              <c:f>Sheet1!$B$2:$B$3</c:f>
              <c:numCache>
                <c:formatCode>General</c:formatCode>
                <c:ptCount val="2"/>
                <c:pt idx="0">
                  <c:v>26.5</c:v>
                </c:pt>
                <c:pt idx="1">
                  <c:v>40.9</c:v>
                </c:pt>
              </c:numCache>
            </c:numRef>
          </c:val>
        </c:ser>
        <c:dLbls>
          <c:numFmt formatCode="0.0&quot;%&quot;" sourceLinked="0"/>
          <c:txPr>
            <a:bodyPr/>
            <a:lstStyle/>
            <a:p>
              <a:pPr>
                <a:defRPr b="1" i="0" strike="noStrike" sz="1600" u="none">
                  <a:solidFill>
                    <a:srgbClr val="2B2D42"/>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2B2D42"/>
                </a:solidFill>
                <a:latin typeface="+mn-lt"/>
              </a:defRPr>
            </a:pPr>
            <a:endParaRPr lang="en-US"/>
          </a:p>
        </c:txPr>
        <c:crossAx val="2094734552"/>
        <c:crosses val="autoZero"/>
        <c:auto val="1"/>
        <c:lblAlgn val="ctr"/>
        <c:noMultiLvlLbl val="1"/>
      </c:catAx>
      <c:valAx>
        <c:axId val="2094734552"/>
        <c:scaling>
          <c:orientation val="minMax"/>
          <c:max val="5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Achintya (15 s): Introduce the two of us and our roles. Sarah asked for two things: a 'customers who bought this also bought' box that runs nightly and beats best sellers, and one picture of our customer groups for marketing.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Achintya (30 s): On Day 1 we turned Sarah's email into four measurable targets, written at the top of our README. All four were met; the rest of the talk shows how. Hit rate at 10 means: for what share of customers was at least one of our 10 suggestions something they actually bought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Achintya (40 s): The raw file has 1,067,371 lines. Each rule is logged with how many rows it removed. The big one is missing customer IDs, 23% of lines. Cancellations and full returns are handled separately for the training and test periods so nothing from the test months leaks into training. 773,216 lines remain.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Achintya (40 s): The last two months are held out by date. For each test customer we keep only products they had never bought before, because the box is about suggesting something new. The matrix is built from training only: one row per customer, one column per product bought by at least 10 customers, a 1 if they ever bought it. It is almost all zeros, which is why stored sparse it is only about 5 MB.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Tanay (45 s): SVD compresses the matrix into k patterns. I chose it before fitting anything because it works on the sparse matrix directly. To pick k without touching the test set, I moved the same two-month setup back two months inside training. The dot-product scoring wins at every k and peaks at k = 100. The cosine version from the starter code throws away how strongly a product follows the main patterns, which is mostly popularity, so it suggests niche look-alikes and loses to best sellers.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Tanay (40 s): With k and the scoring fixed, the test set was used once. 40.9% of test customers had one of their next new purchases in their top 10, against 26.5% for best sellers. The product page box uses cosine similarity of the product factors, and the example shows it groups hanging-heart decorations together. The whole nightly job takes about a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Tanay (35 s): I ran PCA on the same matrix with the same k. scikit-learn's arpack solver centres implicitly, so it never builds the 160 MB dense matrix; its peak memory was even slightly lower. Both first components measure how much a customer buys. The differences I expected from centring didn't show up, because the averages being subtracted are so small. SVD stays the main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Tanay (40 s): For the map I drop component 1, which is just basket size, so customers are grouped by what they buy rather than how much. k-means with 3 to 6 groups, six had the best silhouette. Names come from each group's signature products, the ones most over-represented compared with all customers. The groups overlap, so they are tendencies for steering campaigns, not hard labels. No customer IDs anywhere.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(30 s): Achintya takes the data risks (new products, missing customer IDs, one season); Tanay takes the model risks and next steps. Close by offering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188720"/>
          </a:xfrm>
          <a:prstGeom prst="rect">
            <a:avLst/>
          </a:prstGeom>
          <a:noFill/>
          <a:ln/>
        </p:spPr>
        <p:txBody>
          <a:bodyPr wrap="square" rtlCol="0"/>
          <a:lstStyle>
            <a:lvl1pPr indent="0" marL="0">
              <a:buNone/>
              <a:defRPr lang="en-US" sz="4800" b="1" dirty="0">
                <a:solidFill>
                  <a:schemeClr val="bg1"/>
                </a:solidFill>
                <a:latin typeface="Cambria" pitchFamily="34" charset="0"/>
                <a:ea typeface="Cambria" pitchFamily="34" charset="-122"/>
                <a:cs typeface="Cambria" pitchFamily="34" charset="-120"/>
              </a:defRPr>
            </a:lvl1pPr>
          </a:lstStyle>
          <a:p>
            <a:pPr indent="0" marL="0">
              <a:buNone/>
            </a:pPr>
            <a:endParaRPr lang="en-US" sz="4800" dirty="0"/>
          </a:p>
        </p:txBody>
      </p:sp>
      <p:sp>
        <p:nvSpPr>
          <p:cNvPr id="3" name="Text 0"/>
          <p:cNvSpPr/>
          <p:nvPr>
            <p:ph idx="101" type="body" hasCustomPrompt="1"/>
          </p:nvPr>
        </p:nvSpPr>
        <p:spPr>
          <a:xfrm>
            <a:off x="731520" y="3383280"/>
            <a:ext cx="10698480" cy="201168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32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GiftLane  |  Customers Like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188720"/>
          </a:xfrm>
          <a:prstGeom prst="rect">
            <a:avLst/>
          </a:prstGeom>
          <a:noFill/>
          <a:ln/>
        </p:spPr>
        <p:txBody>
          <a:bodyPr wrap="square" lIns="0" tIns="0" rIns="0" bIns="0" rtlCol="0" anchor="b"/>
          <a:lstStyle/>
          <a:p>
            <a:pPr indent="0" marL="0">
              <a:buNone/>
            </a:pPr>
            <a:r>
              <a:rPr lang="en-US" sz="4800" b="1" dirty="0">
                <a:solidFill>
                  <a:schemeClr val="bg1"/>
                </a:solidFill>
                <a:latin typeface="Cambria" pitchFamily="34" charset="0"/>
                <a:ea typeface="Cambria" pitchFamily="34" charset="-122"/>
                <a:cs typeface="Cambria" pitchFamily="34" charset="-120"/>
              </a:rPr>
              <a:t>Customers Like You</a:t>
            </a:r>
            <a:endParaRPr lang="en-US" sz="4800" dirty="0"/>
          </a:p>
        </p:txBody>
      </p:sp>
      <p:sp>
        <p:nvSpPr>
          <p:cNvPr id="3" name="Text 0"/>
          <p:cNvSpPr/>
          <p:nvPr>
            <p:ph idx="101" type="body" hasCustomPrompt="1"/>
          </p:nvPr>
        </p:nvSpPr>
        <p:spPr>
          <a:xfrm>
            <a:off x="731520" y="3383280"/>
            <a:ext cx="10698480" cy="2011680"/>
          </a:xfrm>
          <a:prstGeom prst="rect">
            <a:avLst/>
          </a:prstGeom>
          <a:noFill/>
          <a:ln/>
        </p:spPr>
        <p:txBody>
          <a:bodyPr wrap="square" lIns="0" tIns="0" rIns="0" bIns="0" rtlCol="0" anchor="t"/>
          <a:lstStyle/>
          <a:p>
            <a:pPr indent="0" marL="0">
              <a:buNone/>
            </a:pPr>
            <a:r>
              <a:rPr lang="en-US" sz="2000" dirty="0">
                <a:solidFill>
                  <a:schemeClr val="bg2"/>
                </a:solidFill>
              </a:rPr>
              <a:t>Product suggestions and customer groups for GiftLane</a:t>
            </a:r>
            <a:endParaRPr lang="en-US" sz="2000" dirty="0"/>
          </a:p>
          <a:p>
            <a:pPr indent="0" marL="0">
              <a:buNone/>
            </a:pPr>
            <a:r>
              <a:rPr lang="en-US" sz="1000" dirty="0">
                <a:solidFill>
                  <a:schemeClr val="bg2"/>
                </a:solidFill>
              </a:rPr>
              <a:t> </a:t>
            </a:r>
            <a:endParaRPr lang="en-US" sz="2000" dirty="0"/>
          </a:p>
          <a:p>
            <a:pPr indent="0" marL="0">
              <a:buNone/>
            </a:pPr>
            <a:r>
              <a:rPr lang="en-US" sz="1600" dirty="0">
                <a:solidFill>
                  <a:schemeClr val="accent3"/>
                </a:solidFill>
              </a:rPr>
              <a:t>Achintya Shah, Data Engineer   |   Tanay Mihani, ML Engineer</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All four targets from Sarah's email were met</a:t>
            </a:r>
            <a:endParaRPr lang="en-US" sz="3200" dirty="0"/>
          </a:p>
        </p:txBody>
      </p:sp>
      <p:sp>
        <p:nvSpPr>
          <p:cNvPr id="3" name="card0"/>
          <p:cNvSpPr/>
          <p:nvPr/>
        </p:nvSpPr>
        <p:spPr>
          <a:xfrm>
            <a:off x="548640" y="1600200"/>
            <a:ext cx="2560320" cy="3931920"/>
          </a:xfrm>
          <a:prstGeom prst="roundRect">
            <a:avLst>
              <a:gd name="adj" fmla="val 4286"/>
            </a:avLst>
          </a:prstGeom>
          <a:solidFill>
            <a:schemeClr val="bg2"/>
          </a:solidFill>
          <a:ln w="12700">
            <a:solidFill>
              <a:schemeClr val="bg2"/>
            </a:solidFill>
            <a:prstDash val="solid"/>
          </a:ln>
        </p:spPr>
      </p:sp>
      <p:sp>
        <p:nvSpPr>
          <p:cNvPr id="4" name="Text 2"/>
          <p:cNvSpPr txBox="1"/>
          <p:nvPr/>
        </p:nvSpPr>
        <p:spPr>
          <a:xfrm>
            <a:off x="777240" y="1828800"/>
            <a:ext cx="2103120" cy="109728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22x</a:t>
            </a:r>
            <a:endParaRPr lang="en-US" sz="4800" dirty="0"/>
          </a:p>
        </p:txBody>
      </p:sp>
      <p:sp>
        <p:nvSpPr>
          <p:cNvPr id="5" name="Text 3"/>
          <p:cNvSpPr txBox="1"/>
          <p:nvPr/>
        </p:nvSpPr>
        <p:spPr>
          <a:xfrm>
            <a:off x="777240" y="2926080"/>
            <a:ext cx="2103120" cy="411480"/>
          </a:xfrm>
          <a:prstGeom prst="rect">
            <a:avLst/>
          </a:prstGeom>
          <a:noFill/>
          <a:ln/>
        </p:spPr>
        <p:txBody>
          <a:bodyPr wrap="square" lIns="0" tIns="0" rIns="0" bIns="0" rtlCol="0" anchor="ctr"/>
          <a:lstStyle/>
          <a:p>
            <a:pPr indent="0" marL="0">
              <a:buNone/>
            </a:pPr>
            <a:r>
              <a:rPr lang="en-US" sz="1800" b="1" dirty="0">
                <a:solidFill>
                  <a:schemeClr val="tx1"/>
                </a:solidFill>
              </a:rPr>
              <a:t>smaller</a:t>
            </a:r>
            <a:endParaRPr lang="en-US" sz="1800" dirty="0"/>
          </a:p>
        </p:txBody>
      </p:sp>
      <p:sp>
        <p:nvSpPr>
          <p:cNvPr id="6" name="Text 4"/>
          <p:cNvSpPr txBox="1"/>
          <p:nvPr/>
        </p:nvSpPr>
        <p:spPr>
          <a:xfrm>
            <a:off x="777240" y="3429000"/>
            <a:ext cx="2103120" cy="1188720"/>
          </a:xfrm>
          <a:prstGeom prst="rect">
            <a:avLst/>
          </a:prstGeom>
          <a:noFill/>
          <a:ln/>
        </p:spPr>
        <p:txBody>
          <a:bodyPr wrap="square" lIns="0" tIns="0" rIns="0" bIns="0" rtlCol="0" anchor="t"/>
          <a:lstStyle/>
          <a:p>
            <a:pPr indent="0" marL="0">
              <a:buNone/>
            </a:pPr>
            <a:r>
              <a:rPr lang="en-US" sz="1400" dirty="0">
                <a:solidFill>
                  <a:schemeClr val="tx2"/>
                </a:solidFill>
              </a:rPr>
              <a:t>7.3 MB of factors instead of a 161 MB table</a:t>
            </a:r>
            <a:endParaRPr lang="en-US" sz="1400" dirty="0"/>
          </a:p>
        </p:txBody>
      </p:sp>
      <p:sp>
        <p:nvSpPr>
          <p:cNvPr id="7" name="Text 5"/>
          <p:cNvSpPr txBox="1"/>
          <p:nvPr/>
        </p:nvSpPr>
        <p:spPr>
          <a:xfrm>
            <a:off x="777240" y="4754880"/>
            <a:ext cx="2103120" cy="411480"/>
          </a:xfrm>
          <a:prstGeom prst="rect">
            <a:avLst/>
          </a:prstGeom>
          <a:noFill/>
          <a:ln/>
        </p:spPr>
        <p:txBody>
          <a:bodyPr wrap="square" lIns="0" tIns="0" rIns="0" bIns="0" rtlCol="0" anchor="ctr"/>
          <a:lstStyle/>
          <a:p>
            <a:pPr indent="0" marL="0">
              <a:buNone/>
            </a:pPr>
            <a:r>
              <a:rPr lang="en-US" sz="1200" i="1" dirty="0">
                <a:solidFill>
                  <a:schemeClr val="accent2"/>
                </a:solidFill>
              </a:rPr>
              <a:t>Target: under 16 MB</a:t>
            </a:r>
            <a:endParaRPr lang="en-US" sz="1200" dirty="0"/>
          </a:p>
        </p:txBody>
      </p:sp>
      <p:sp>
        <p:nvSpPr>
          <p:cNvPr id="8" name="card1"/>
          <p:cNvSpPr/>
          <p:nvPr/>
        </p:nvSpPr>
        <p:spPr>
          <a:xfrm>
            <a:off x="3383280" y="1600200"/>
            <a:ext cx="2560320" cy="3931920"/>
          </a:xfrm>
          <a:prstGeom prst="roundRect">
            <a:avLst>
              <a:gd name="adj" fmla="val 4286"/>
            </a:avLst>
          </a:prstGeom>
          <a:solidFill>
            <a:schemeClr val="bg2"/>
          </a:solidFill>
          <a:ln w="12700">
            <a:solidFill>
              <a:schemeClr val="bg2"/>
            </a:solidFill>
            <a:prstDash val="solid"/>
          </a:ln>
        </p:spPr>
      </p:sp>
      <p:sp>
        <p:nvSpPr>
          <p:cNvPr id="9" name="Text 7"/>
          <p:cNvSpPr txBox="1"/>
          <p:nvPr/>
        </p:nvSpPr>
        <p:spPr>
          <a:xfrm>
            <a:off x="3611880" y="1828800"/>
            <a:ext cx="2103120" cy="109728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~1 s</a:t>
            </a:r>
            <a:endParaRPr lang="en-US" sz="4800" dirty="0"/>
          </a:p>
        </p:txBody>
      </p:sp>
      <p:sp>
        <p:nvSpPr>
          <p:cNvPr id="10" name="Text 8"/>
          <p:cNvSpPr txBox="1"/>
          <p:nvPr/>
        </p:nvSpPr>
        <p:spPr>
          <a:xfrm>
            <a:off x="3611880" y="2926080"/>
            <a:ext cx="2103120" cy="411480"/>
          </a:xfrm>
          <a:prstGeom prst="rect">
            <a:avLst/>
          </a:prstGeom>
          <a:noFill/>
          <a:ln/>
        </p:spPr>
        <p:txBody>
          <a:bodyPr wrap="square" lIns="0" tIns="0" rIns="0" bIns="0" rtlCol="0" anchor="ctr"/>
          <a:lstStyle/>
          <a:p>
            <a:pPr indent="0" marL="0">
              <a:buNone/>
            </a:pPr>
            <a:r>
              <a:rPr lang="en-US" sz="1800" b="1" dirty="0">
                <a:solidFill>
                  <a:schemeClr val="tx1"/>
                </a:solidFill>
              </a:rPr>
              <a:t>nightly job</a:t>
            </a:r>
            <a:endParaRPr lang="en-US" sz="1800" dirty="0"/>
          </a:p>
        </p:txBody>
      </p:sp>
      <p:sp>
        <p:nvSpPr>
          <p:cNvPr id="11" name="Text 9"/>
          <p:cNvSpPr txBox="1"/>
          <p:nvPr/>
        </p:nvSpPr>
        <p:spPr>
          <a:xfrm>
            <a:off x="3611880" y="3429000"/>
            <a:ext cx="2103120" cy="1188720"/>
          </a:xfrm>
          <a:prstGeom prst="rect">
            <a:avLst/>
          </a:prstGeom>
          <a:noFill/>
          <a:ln/>
        </p:spPr>
        <p:txBody>
          <a:bodyPr wrap="square" lIns="0" tIns="0" rIns="0" bIns="0" rtlCol="0" anchor="t"/>
          <a:lstStyle/>
          <a:p>
            <a:pPr indent="0" marL="0">
              <a:buNone/>
            </a:pPr>
            <a:r>
              <a:rPr lang="en-US" sz="1400" dirty="0">
                <a:solidFill>
                  <a:schemeClr val="tx2"/>
                </a:solidFill>
              </a:rPr>
              <a:t>Fit, product page boxes and top 10 for every customer</a:t>
            </a:r>
            <a:endParaRPr lang="en-US" sz="1400" dirty="0"/>
          </a:p>
        </p:txBody>
      </p:sp>
      <p:sp>
        <p:nvSpPr>
          <p:cNvPr id="12" name="Text 10"/>
          <p:cNvSpPr txBox="1"/>
          <p:nvPr/>
        </p:nvSpPr>
        <p:spPr>
          <a:xfrm>
            <a:off x="3611880" y="4754880"/>
            <a:ext cx="2103120" cy="411480"/>
          </a:xfrm>
          <a:prstGeom prst="rect">
            <a:avLst/>
          </a:prstGeom>
          <a:noFill/>
          <a:ln/>
        </p:spPr>
        <p:txBody>
          <a:bodyPr wrap="square" lIns="0" tIns="0" rIns="0" bIns="0" rtlCol="0" anchor="ctr"/>
          <a:lstStyle/>
          <a:p>
            <a:pPr indent="0" marL="0">
              <a:buNone/>
            </a:pPr>
            <a:r>
              <a:rPr lang="en-US" sz="1200" i="1" dirty="0">
                <a:solidFill>
                  <a:schemeClr val="accent2"/>
                </a:solidFill>
              </a:rPr>
              <a:t>Target: under 60 s</a:t>
            </a:r>
            <a:endParaRPr lang="en-US" sz="1200" dirty="0"/>
          </a:p>
        </p:txBody>
      </p:sp>
      <p:sp>
        <p:nvSpPr>
          <p:cNvPr id="13" name="card2"/>
          <p:cNvSpPr/>
          <p:nvPr/>
        </p:nvSpPr>
        <p:spPr>
          <a:xfrm>
            <a:off x="6217920" y="1600200"/>
            <a:ext cx="2560320" cy="3931920"/>
          </a:xfrm>
          <a:prstGeom prst="roundRect">
            <a:avLst>
              <a:gd name="adj" fmla="val 4286"/>
            </a:avLst>
          </a:prstGeom>
          <a:solidFill>
            <a:schemeClr val="bg2"/>
          </a:solidFill>
          <a:ln w="12700">
            <a:solidFill>
              <a:schemeClr val="bg2"/>
            </a:solidFill>
            <a:prstDash val="solid"/>
          </a:ln>
        </p:spPr>
      </p:sp>
      <p:sp>
        <p:nvSpPr>
          <p:cNvPr id="14" name="Text 12"/>
          <p:cNvSpPr txBox="1"/>
          <p:nvPr/>
        </p:nvSpPr>
        <p:spPr>
          <a:xfrm>
            <a:off x="6446520" y="1828800"/>
            <a:ext cx="2103120" cy="109728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41%</a:t>
            </a:r>
            <a:endParaRPr lang="en-US" sz="4800" dirty="0"/>
          </a:p>
        </p:txBody>
      </p:sp>
      <p:sp>
        <p:nvSpPr>
          <p:cNvPr id="15" name="Text 13"/>
          <p:cNvSpPr txBox="1"/>
          <p:nvPr/>
        </p:nvSpPr>
        <p:spPr>
          <a:xfrm>
            <a:off x="6446520" y="2926080"/>
            <a:ext cx="2103120" cy="411480"/>
          </a:xfrm>
          <a:prstGeom prst="rect">
            <a:avLst/>
          </a:prstGeom>
          <a:noFill/>
          <a:ln/>
        </p:spPr>
        <p:txBody>
          <a:bodyPr wrap="square" lIns="0" tIns="0" rIns="0" bIns="0" rtlCol="0" anchor="ctr"/>
          <a:lstStyle/>
          <a:p>
            <a:pPr indent="0" marL="0">
              <a:buNone/>
            </a:pPr>
            <a:r>
              <a:rPr lang="en-US" sz="1800" b="1" dirty="0">
                <a:solidFill>
                  <a:schemeClr val="tx1"/>
                </a:solidFill>
              </a:rPr>
              <a:t>hit rate at 10</a:t>
            </a:r>
            <a:endParaRPr lang="en-US" sz="1800" dirty="0"/>
          </a:p>
        </p:txBody>
      </p:sp>
      <p:sp>
        <p:nvSpPr>
          <p:cNvPr id="16" name="Text 14"/>
          <p:cNvSpPr txBox="1"/>
          <p:nvPr/>
        </p:nvSpPr>
        <p:spPr>
          <a:xfrm>
            <a:off x="6446520" y="3429000"/>
            <a:ext cx="2103120" cy="1188720"/>
          </a:xfrm>
          <a:prstGeom prst="rect">
            <a:avLst/>
          </a:prstGeom>
          <a:noFill/>
          <a:ln/>
        </p:spPr>
        <p:txBody>
          <a:bodyPr wrap="square" lIns="0" tIns="0" rIns="0" bIns="0" rtlCol="0" anchor="t"/>
          <a:lstStyle/>
          <a:p>
            <a:pPr indent="0" marL="0">
              <a:buNone/>
            </a:pPr>
            <a:r>
              <a:rPr lang="en-US" sz="1400" dirty="0">
                <a:solidFill>
                  <a:schemeClr val="tx2"/>
                </a:solidFill>
              </a:rPr>
              <a:t>vs 27% for best sellers, on 1,919 test customers</a:t>
            </a:r>
            <a:endParaRPr lang="en-US" sz="1400" dirty="0"/>
          </a:p>
        </p:txBody>
      </p:sp>
      <p:sp>
        <p:nvSpPr>
          <p:cNvPr id="17" name="Text 15"/>
          <p:cNvSpPr txBox="1"/>
          <p:nvPr/>
        </p:nvSpPr>
        <p:spPr>
          <a:xfrm>
            <a:off x="6446520" y="4754880"/>
            <a:ext cx="2103120" cy="411480"/>
          </a:xfrm>
          <a:prstGeom prst="rect">
            <a:avLst/>
          </a:prstGeom>
          <a:noFill/>
          <a:ln/>
        </p:spPr>
        <p:txBody>
          <a:bodyPr wrap="square" lIns="0" tIns="0" rIns="0" bIns="0" rtlCol="0" anchor="ctr"/>
          <a:lstStyle/>
          <a:p>
            <a:pPr indent="0" marL="0">
              <a:buNone/>
            </a:pPr>
            <a:r>
              <a:rPr lang="en-US" sz="1200" i="1" dirty="0">
                <a:solidFill>
                  <a:schemeClr val="accent2"/>
                </a:solidFill>
              </a:rPr>
              <a:t>Target: beat best sellers</a:t>
            </a:r>
            <a:endParaRPr lang="en-US" sz="1200" dirty="0"/>
          </a:p>
        </p:txBody>
      </p:sp>
      <p:sp>
        <p:nvSpPr>
          <p:cNvPr id="18" name="card3"/>
          <p:cNvSpPr/>
          <p:nvPr/>
        </p:nvSpPr>
        <p:spPr>
          <a:xfrm>
            <a:off x="9052560" y="1600200"/>
            <a:ext cx="2560320" cy="3931920"/>
          </a:xfrm>
          <a:prstGeom prst="roundRect">
            <a:avLst>
              <a:gd name="adj" fmla="val 4286"/>
            </a:avLst>
          </a:prstGeom>
          <a:solidFill>
            <a:schemeClr val="bg2"/>
          </a:solidFill>
          <a:ln w="12700">
            <a:solidFill>
              <a:schemeClr val="bg2"/>
            </a:solidFill>
            <a:prstDash val="solid"/>
          </a:ln>
        </p:spPr>
      </p:sp>
      <p:sp>
        <p:nvSpPr>
          <p:cNvPr id="19" name="Text 17"/>
          <p:cNvSpPr txBox="1"/>
          <p:nvPr/>
        </p:nvSpPr>
        <p:spPr>
          <a:xfrm>
            <a:off x="9281160" y="1828800"/>
            <a:ext cx="2103120" cy="109728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6</a:t>
            </a:r>
            <a:endParaRPr lang="en-US" sz="4800" dirty="0"/>
          </a:p>
        </p:txBody>
      </p:sp>
      <p:sp>
        <p:nvSpPr>
          <p:cNvPr id="20" name="Text 18"/>
          <p:cNvSpPr txBox="1"/>
          <p:nvPr/>
        </p:nvSpPr>
        <p:spPr>
          <a:xfrm>
            <a:off x="9281160" y="2926080"/>
            <a:ext cx="2103120" cy="411480"/>
          </a:xfrm>
          <a:prstGeom prst="rect">
            <a:avLst/>
          </a:prstGeom>
          <a:noFill/>
          <a:ln/>
        </p:spPr>
        <p:txBody>
          <a:bodyPr wrap="square" lIns="0" tIns="0" rIns="0" bIns="0" rtlCol="0" anchor="ctr"/>
          <a:lstStyle/>
          <a:p>
            <a:pPr indent="0" marL="0">
              <a:buNone/>
            </a:pPr>
            <a:r>
              <a:rPr lang="en-US" sz="1800" b="1" dirty="0">
                <a:solidFill>
                  <a:schemeClr val="tx1"/>
                </a:solidFill>
              </a:rPr>
              <a:t>customer groups</a:t>
            </a:r>
            <a:endParaRPr lang="en-US" sz="1800" dirty="0"/>
          </a:p>
        </p:txBody>
      </p:sp>
      <p:sp>
        <p:nvSpPr>
          <p:cNvPr id="21" name="Text 19"/>
          <p:cNvSpPr txBox="1"/>
          <p:nvPr/>
        </p:nvSpPr>
        <p:spPr>
          <a:xfrm>
            <a:off x="9281160" y="3429000"/>
            <a:ext cx="2103120" cy="1188720"/>
          </a:xfrm>
          <a:prstGeom prst="rect">
            <a:avLst/>
          </a:prstGeom>
          <a:noFill/>
          <a:ln/>
        </p:spPr>
        <p:txBody>
          <a:bodyPr wrap="square" lIns="0" tIns="0" rIns="0" bIns="0" rtlCol="0" anchor="t"/>
          <a:lstStyle/>
          <a:p>
            <a:pPr indent="0" marL="0">
              <a:buNone/>
            </a:pPr>
            <a:r>
              <a:rPr lang="en-US" sz="1400" dirty="0">
                <a:solidFill>
                  <a:schemeClr val="tx2"/>
                </a:solidFill>
              </a:rPr>
              <a:t>Each named from the products it buys most</a:t>
            </a:r>
            <a:endParaRPr lang="en-US" sz="1400" dirty="0"/>
          </a:p>
        </p:txBody>
      </p:sp>
      <p:sp>
        <p:nvSpPr>
          <p:cNvPr id="22" name="Text 20"/>
          <p:cNvSpPr txBox="1"/>
          <p:nvPr/>
        </p:nvSpPr>
        <p:spPr>
          <a:xfrm>
            <a:off x="9281160" y="4754880"/>
            <a:ext cx="2103120" cy="411480"/>
          </a:xfrm>
          <a:prstGeom prst="rect">
            <a:avLst/>
          </a:prstGeom>
          <a:noFill/>
          <a:ln/>
        </p:spPr>
        <p:txBody>
          <a:bodyPr wrap="square" lIns="0" tIns="0" rIns="0" bIns="0" rtlCol="0" anchor="ctr"/>
          <a:lstStyle/>
          <a:p>
            <a:pPr indent="0" marL="0">
              <a:buNone/>
            </a:pPr>
            <a:r>
              <a:rPr lang="en-US" sz="1200" i="1" dirty="0">
                <a:solidFill>
                  <a:schemeClr val="accent2"/>
                </a:solidFill>
              </a:rPr>
              <a:t>Target: 3 to 6 nameable groups</a:t>
            </a:r>
            <a:endParaRPr lang="en-US" sz="1200" dirty="0"/>
          </a:p>
        </p:txBody>
      </p:sp>
      <p:sp>
        <p:nvSpPr>
          <p:cNvPr id="23" name="presenter"/>
          <p:cNvSpPr txBox="1"/>
          <p:nvPr/>
        </p:nvSpPr>
        <p:spPr>
          <a:xfrm>
            <a:off x="9326880" y="6400800"/>
            <a:ext cx="1737360" cy="274320"/>
          </a:xfrm>
          <a:prstGeom prst="rect">
            <a:avLst/>
          </a:prstGeom>
          <a:noFill/>
          <a:ln/>
        </p:spPr>
        <p:txBody>
          <a:bodyPr wrap="square" lIns="0" tIns="0" rIns="0" bIns="0" rtlCol="0" anchor="ctr"/>
          <a:lstStyle/>
          <a:p>
            <a:pPr algn="r" indent="0" marL="0">
              <a:buNone/>
            </a:pPr>
            <a:r>
              <a:rPr lang="en-US" sz="1000" dirty="0">
                <a:solidFill>
                  <a:schemeClr val="accent5"/>
                </a:solidFill>
              </a:rPr>
              <a:t>Achintya</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Cleaning kept 773,216 of 1.07 million invoice lines</a:t>
            </a:r>
            <a:endParaRPr lang="en-US" sz="3200" dirty="0"/>
          </a:p>
        </p:txBody>
      </p:sp>
      <p:graphicFrame>
        <p:nvGraphicFramePr>
          <p:cNvPr id="3" name="Chart 0" descr=""/>
          <p:cNvGraphicFramePr/>
          <p:nvPr/>
        </p:nvGraphicFramePr>
        <p:xfrm>
          <a:off x="548640" y="1417320"/>
          <a:ext cx="6949440" cy="4754880"/>
        </p:xfrm>
        <a:graphic xmlns:a="http://schemas.openxmlformats.org/drawingml/2006/main">
          <a:graphicData uri="http://schemas.openxmlformats.org/drawingml/2006/chart">
            <c:chart xmlns:c="http://schemas.openxmlformats.org/drawingml/2006/chart" r:id="rId1"/>
          </a:graphicData>
        </a:graphic>
      </p:graphicFrame>
      <p:sp>
        <p:nvSpPr>
          <p:cNvPr id="4" name="keptCard"/>
          <p:cNvSpPr/>
          <p:nvPr/>
        </p:nvSpPr>
        <p:spPr>
          <a:xfrm>
            <a:off x="7863840" y="1600200"/>
            <a:ext cx="3749040" cy="4389120"/>
          </a:xfrm>
          <a:prstGeom prst="roundRect">
            <a:avLst>
              <a:gd name="adj" fmla="val 2927"/>
            </a:avLst>
          </a:prstGeom>
          <a:solidFill>
            <a:schemeClr val="bg2"/>
          </a:solidFill>
          <a:ln w="12700">
            <a:solidFill>
              <a:schemeClr val="bg2"/>
            </a:solidFill>
            <a:prstDash val="solid"/>
          </a:ln>
        </p:spPr>
      </p:sp>
      <p:sp>
        <p:nvSpPr>
          <p:cNvPr id="5" name="Text 2"/>
          <p:cNvSpPr txBox="1"/>
          <p:nvPr/>
        </p:nvSpPr>
        <p:spPr>
          <a:xfrm>
            <a:off x="8138160" y="1783080"/>
            <a:ext cx="3291840" cy="1005840"/>
          </a:xfrm>
          <a:prstGeom prst="rect">
            <a:avLst/>
          </a:prstGeom>
          <a:noFill/>
          <a:ln/>
        </p:spPr>
        <p:txBody>
          <a:bodyPr wrap="square" lIns="0" tIns="0" rIns="0" bIns="0" rtlCol="0" anchor="ctr"/>
          <a:lstStyle/>
          <a:p>
            <a:pPr indent="0" marL="0">
              <a:buNone/>
            </a:pPr>
            <a:r>
              <a:rPr lang="en-US" sz="5400" b="1" dirty="0">
                <a:solidFill>
                  <a:schemeClr val="accent2"/>
                </a:solidFill>
                <a:latin typeface="Cambria" pitchFamily="34" charset="0"/>
                <a:ea typeface="Cambria" pitchFamily="34" charset="-122"/>
                <a:cs typeface="Cambria" pitchFamily="34" charset="-120"/>
              </a:rPr>
              <a:t>72%</a:t>
            </a:r>
            <a:endParaRPr lang="en-US" sz="5400" dirty="0"/>
          </a:p>
        </p:txBody>
      </p:sp>
      <p:sp>
        <p:nvSpPr>
          <p:cNvPr id="6" name="Text 3"/>
          <p:cNvSpPr txBox="1"/>
          <p:nvPr/>
        </p:nvSpPr>
        <p:spPr>
          <a:xfrm>
            <a:off x="8138160" y="2788920"/>
            <a:ext cx="3291840" cy="411480"/>
          </a:xfrm>
          <a:prstGeom prst="rect">
            <a:avLst/>
          </a:prstGeom>
          <a:noFill/>
          <a:ln/>
        </p:spPr>
        <p:txBody>
          <a:bodyPr wrap="square" lIns="0" tIns="0" rIns="0" bIns="0" rtlCol="0" anchor="ctr"/>
          <a:lstStyle/>
          <a:p>
            <a:pPr indent="0" marL="0">
              <a:buNone/>
            </a:pPr>
            <a:r>
              <a:rPr lang="en-US" sz="1800" b="1" dirty="0">
                <a:solidFill>
                  <a:schemeClr val="tx1"/>
                </a:solidFill>
              </a:rPr>
              <a:t>of the raw file kept</a:t>
            </a:r>
            <a:endParaRPr lang="en-US" sz="1800" dirty="0"/>
          </a:p>
        </p:txBody>
      </p:sp>
      <p:sp>
        <p:nvSpPr>
          <p:cNvPr id="7" name="Text 4"/>
          <p:cNvSpPr txBox="1"/>
          <p:nvPr/>
        </p:nvSpPr>
        <p:spPr>
          <a:xfrm>
            <a:off x="8138160" y="3291840"/>
            <a:ext cx="3291840" cy="25603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Lines without a customer can't tell us anyone's taste, so they go first.</a:t>
            </a:r>
            <a:endParaRPr lang="en-US" sz="1400" dirty="0"/>
          </a:p>
          <a:p>
            <a:pPr marL="342900" indent="-342900">
              <a:spcAft>
                <a:spcPts val="600"/>
              </a:spcAft>
              <a:buSzPct val="100000"/>
              <a:buChar char="•"/>
            </a:pPr>
            <a:r>
              <a:rPr lang="en-US" sz="1400" dirty="0">
                <a:solidFill>
                  <a:schemeClr val="tx2"/>
                </a:solidFill>
              </a:rPr>
              <a:t>Postage, fees and other non-product codes aren't purchases.</a:t>
            </a:r>
            <a:endParaRPr lang="en-US" sz="1400" dirty="0"/>
          </a:p>
          <a:p>
            <a:pPr marL="342900" indent="-342900">
              <a:spcAft>
                <a:spcPts val="600"/>
              </a:spcAft>
              <a:buSzPct val="100000"/>
              <a:buChar char="•"/>
            </a:pPr>
            <a:r>
              <a:rPr lang="en-US" sz="1400" dirty="0">
                <a:solidFill>
                  <a:schemeClr val="tx2"/>
                </a:solidFill>
              </a:rPr>
              <a:t>Cancellations and items returned in full are removed inside each period, so the test months never affect training.</a:t>
            </a:r>
            <a:endParaRPr lang="en-US" sz="1400" dirty="0"/>
          </a:p>
        </p:txBody>
      </p:sp>
      <p:sp>
        <p:nvSpPr>
          <p:cNvPr id="8" name="presenter"/>
          <p:cNvSpPr txBox="1"/>
          <p:nvPr/>
        </p:nvSpPr>
        <p:spPr>
          <a:xfrm>
            <a:off x="9326880" y="6400800"/>
            <a:ext cx="1737360" cy="274320"/>
          </a:xfrm>
          <a:prstGeom prst="rect">
            <a:avLst/>
          </a:prstGeom>
          <a:noFill/>
          <a:ln/>
        </p:spPr>
        <p:txBody>
          <a:bodyPr wrap="square" lIns="0" tIns="0" rIns="0" bIns="0" rtlCol="0" anchor="ctr"/>
          <a:lstStyle/>
          <a:p>
            <a:pPr algn="r" indent="0" marL="0">
              <a:buNone/>
            </a:pPr>
            <a:r>
              <a:rPr lang="en-US" sz="1000" dirty="0">
                <a:solidFill>
                  <a:schemeClr val="accent5"/>
                </a:solidFill>
              </a:rPr>
              <a:t>Achintya</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Split by time, then a matrix that is 98% empty</a:t>
            </a:r>
            <a:endParaRPr lang="en-US" sz="3200" dirty="0"/>
          </a:p>
        </p:txBody>
      </p:sp>
      <p:sp>
        <p:nvSpPr>
          <p:cNvPr id="3" name="trainBar"/>
          <p:cNvSpPr/>
          <p:nvPr/>
        </p:nvSpPr>
        <p:spPr>
          <a:xfrm>
            <a:off x="548640" y="1737360"/>
            <a:ext cx="8778240" cy="685800"/>
          </a:xfrm>
          <a:prstGeom prst="roundRect">
            <a:avLst>
              <a:gd name="adj" fmla="val 10667"/>
            </a:avLst>
          </a:prstGeom>
          <a:solidFill>
            <a:schemeClr val="accent4"/>
          </a:solidFill>
          <a:ln w="12700">
            <a:solidFill>
              <a:schemeClr val="accent4"/>
            </a:solidFill>
            <a:prstDash val="solid"/>
          </a:ln>
        </p:spPr>
      </p:sp>
      <p:sp>
        <p:nvSpPr>
          <p:cNvPr id="4" name="testBar"/>
          <p:cNvSpPr/>
          <p:nvPr/>
        </p:nvSpPr>
        <p:spPr>
          <a:xfrm>
            <a:off x="9464040" y="1737360"/>
            <a:ext cx="2148840" cy="685800"/>
          </a:xfrm>
          <a:prstGeom prst="roundRect">
            <a:avLst>
              <a:gd name="adj" fmla="val 10667"/>
            </a:avLst>
          </a:prstGeom>
          <a:solidFill>
            <a:schemeClr val="accent1"/>
          </a:solidFill>
          <a:ln w="12700">
            <a:solidFill>
              <a:schemeClr val="accent1"/>
            </a:solidFill>
            <a:prstDash val="solid"/>
          </a:ln>
        </p:spPr>
      </p:sp>
      <p:sp>
        <p:nvSpPr>
          <p:cNvPr id="5" name="Text 3"/>
          <p:cNvSpPr txBox="1"/>
          <p:nvPr/>
        </p:nvSpPr>
        <p:spPr>
          <a:xfrm>
            <a:off x="731520" y="1737360"/>
            <a:ext cx="8412480" cy="685800"/>
          </a:xfrm>
          <a:prstGeom prst="rect">
            <a:avLst/>
          </a:prstGeom>
          <a:noFill/>
          <a:ln/>
        </p:spPr>
        <p:txBody>
          <a:bodyPr wrap="square" lIns="0" tIns="0" rIns="0" bIns="0" rtlCol="0" anchor="ctr"/>
          <a:lstStyle/>
          <a:p>
            <a:pPr indent="0" marL="0">
              <a:buNone/>
            </a:pPr>
            <a:r>
              <a:rPr lang="en-US" sz="1600" b="1" dirty="0">
                <a:solidFill>
                  <a:schemeClr val="bg1"/>
                </a:solidFill>
              </a:rPr>
              <a:t>Training: Dec 2009 to 9 Oct 2011</a:t>
            </a:r>
            <a:endParaRPr lang="en-US" sz="1600" dirty="0"/>
          </a:p>
        </p:txBody>
      </p:sp>
      <p:sp>
        <p:nvSpPr>
          <p:cNvPr id="6" name="Text 4"/>
          <p:cNvSpPr txBox="1"/>
          <p:nvPr/>
        </p:nvSpPr>
        <p:spPr>
          <a:xfrm>
            <a:off x="9555480" y="1737360"/>
            <a:ext cx="1965960" cy="685800"/>
          </a:xfrm>
          <a:prstGeom prst="rect">
            <a:avLst/>
          </a:prstGeom>
          <a:noFill/>
          <a:ln/>
        </p:spPr>
        <p:txBody>
          <a:bodyPr wrap="square" lIns="0" tIns="0" rIns="0" bIns="0" rtlCol="0" anchor="ctr"/>
          <a:lstStyle/>
          <a:p>
            <a:pPr algn="ctr" indent="0" marL="0">
              <a:buNone/>
            </a:pPr>
            <a:r>
              <a:rPr lang="en-US" sz="1600" b="1" dirty="0">
                <a:solidFill>
                  <a:schemeClr val="bg1"/>
                </a:solidFill>
              </a:rPr>
              <a:t>Test: 2 months</a:t>
            </a:r>
            <a:endParaRPr lang="en-US" sz="1600" dirty="0"/>
          </a:p>
        </p:txBody>
      </p:sp>
      <p:sp>
        <p:nvSpPr>
          <p:cNvPr id="7" name="Text 5"/>
          <p:cNvSpPr txBox="1"/>
          <p:nvPr/>
        </p:nvSpPr>
        <p:spPr>
          <a:xfrm>
            <a:off x="548640" y="2560320"/>
            <a:ext cx="11064240" cy="731520"/>
          </a:xfrm>
          <a:prstGeom prst="rect">
            <a:avLst/>
          </a:prstGeom>
          <a:noFill/>
          <a:ln/>
        </p:spPr>
        <p:txBody>
          <a:bodyPr wrap="square" lIns="0" tIns="0" rIns="0" bIns="0" rtlCol="0" anchor="ctr"/>
          <a:lstStyle/>
          <a:p>
            <a:pPr indent="0" marL="0">
              <a:buNone/>
            </a:pPr>
            <a:r>
              <a:rPr lang="en-US" sz="1400" dirty="0">
                <a:solidFill>
                  <a:schemeClr val="tx2"/>
                </a:solidFill>
              </a:rPr>
              <a:t>The model only ever sees training. The test months are the 'future' we check against: 1,919 returning customers and 49,214 products they bought for the first time.</a:t>
            </a:r>
            <a:endParaRPr lang="en-US" sz="1400" dirty="0"/>
          </a:p>
        </p:txBody>
      </p:sp>
      <p:sp>
        <p:nvSpPr>
          <p:cNvPr id="8" name="mstat0"/>
          <p:cNvSpPr/>
          <p:nvPr/>
        </p:nvSpPr>
        <p:spPr>
          <a:xfrm>
            <a:off x="548640" y="3657600"/>
            <a:ext cx="2560320" cy="2331720"/>
          </a:xfrm>
          <a:prstGeom prst="roundRect">
            <a:avLst>
              <a:gd name="adj" fmla="val 4706"/>
            </a:avLst>
          </a:prstGeom>
          <a:solidFill>
            <a:schemeClr val="bg2"/>
          </a:solidFill>
          <a:ln w="12700">
            <a:solidFill>
              <a:schemeClr val="bg2"/>
            </a:solidFill>
            <a:prstDash val="solid"/>
          </a:ln>
        </p:spPr>
      </p:sp>
      <p:sp>
        <p:nvSpPr>
          <p:cNvPr id="9" name="Text 7"/>
          <p:cNvSpPr txBox="1"/>
          <p:nvPr/>
        </p:nvSpPr>
        <p:spPr>
          <a:xfrm>
            <a:off x="731520" y="3840480"/>
            <a:ext cx="2194560" cy="91440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5,456 x 3,680</a:t>
            </a:r>
            <a:endParaRPr lang="en-US" sz="2800" dirty="0"/>
          </a:p>
        </p:txBody>
      </p:sp>
      <p:sp>
        <p:nvSpPr>
          <p:cNvPr id="10" name="Text 8"/>
          <p:cNvSpPr txBox="1"/>
          <p:nvPr/>
        </p:nvSpPr>
        <p:spPr>
          <a:xfrm>
            <a:off x="731520" y="4800600"/>
            <a:ext cx="2194560" cy="1005840"/>
          </a:xfrm>
          <a:prstGeom prst="rect">
            <a:avLst/>
          </a:prstGeom>
          <a:noFill/>
          <a:ln/>
        </p:spPr>
        <p:txBody>
          <a:bodyPr wrap="square" lIns="0" tIns="0" rIns="0" bIns="0" rtlCol="0" anchor="t"/>
          <a:lstStyle/>
          <a:p>
            <a:pPr indent="0" marL="0">
              <a:buNone/>
            </a:pPr>
            <a:r>
              <a:rPr lang="en-US" sz="1400" dirty="0">
                <a:solidFill>
                  <a:schemeClr val="tx2"/>
                </a:solidFill>
              </a:rPr>
              <a:t>customers x products (products bought by 10+ customers)</a:t>
            </a:r>
            <a:endParaRPr lang="en-US" sz="1400" dirty="0"/>
          </a:p>
        </p:txBody>
      </p:sp>
      <p:sp>
        <p:nvSpPr>
          <p:cNvPr id="11" name="mstat1"/>
          <p:cNvSpPr/>
          <p:nvPr/>
        </p:nvSpPr>
        <p:spPr>
          <a:xfrm>
            <a:off x="3383280" y="3657600"/>
            <a:ext cx="2560320" cy="2331720"/>
          </a:xfrm>
          <a:prstGeom prst="roundRect">
            <a:avLst>
              <a:gd name="adj" fmla="val 4706"/>
            </a:avLst>
          </a:prstGeom>
          <a:solidFill>
            <a:schemeClr val="bg2"/>
          </a:solidFill>
          <a:ln w="12700">
            <a:solidFill>
              <a:schemeClr val="bg2"/>
            </a:solidFill>
            <a:prstDash val="solid"/>
          </a:ln>
        </p:spPr>
      </p:sp>
      <p:sp>
        <p:nvSpPr>
          <p:cNvPr id="12" name="Text 10"/>
          <p:cNvSpPr txBox="1"/>
          <p:nvPr/>
        </p:nvSpPr>
        <p:spPr>
          <a:xfrm>
            <a:off x="3566160" y="3840480"/>
            <a:ext cx="2194560" cy="91440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411,136</a:t>
            </a:r>
            <a:endParaRPr lang="en-US" sz="2800" dirty="0"/>
          </a:p>
        </p:txBody>
      </p:sp>
      <p:sp>
        <p:nvSpPr>
          <p:cNvPr id="13" name="Text 11"/>
          <p:cNvSpPr txBox="1"/>
          <p:nvPr/>
        </p:nvSpPr>
        <p:spPr>
          <a:xfrm>
            <a:off x="3566160" y="4800600"/>
            <a:ext cx="2194560" cy="1005840"/>
          </a:xfrm>
          <a:prstGeom prst="rect">
            <a:avLst/>
          </a:prstGeom>
          <a:noFill/>
          <a:ln/>
        </p:spPr>
        <p:txBody>
          <a:bodyPr wrap="square" lIns="0" tIns="0" rIns="0" bIns="0" rtlCol="0" anchor="t"/>
          <a:lstStyle/>
          <a:p>
            <a:pPr indent="0" marL="0">
              <a:buNone/>
            </a:pPr>
            <a:r>
              <a:rPr lang="en-US" sz="1400" dirty="0">
                <a:solidFill>
                  <a:schemeClr val="tx2"/>
                </a:solidFill>
              </a:rPr>
              <a:t>cells set to 1 (customer ever bought it)</a:t>
            </a:r>
            <a:endParaRPr lang="en-US" sz="1400" dirty="0"/>
          </a:p>
        </p:txBody>
      </p:sp>
      <p:sp>
        <p:nvSpPr>
          <p:cNvPr id="14" name="mstat2"/>
          <p:cNvSpPr/>
          <p:nvPr/>
        </p:nvSpPr>
        <p:spPr>
          <a:xfrm>
            <a:off x="6217920" y="3657600"/>
            <a:ext cx="2560320" cy="2331720"/>
          </a:xfrm>
          <a:prstGeom prst="roundRect">
            <a:avLst>
              <a:gd name="adj" fmla="val 4706"/>
            </a:avLst>
          </a:prstGeom>
          <a:solidFill>
            <a:schemeClr val="bg2"/>
          </a:solidFill>
          <a:ln w="12700">
            <a:solidFill>
              <a:schemeClr val="bg2"/>
            </a:solidFill>
            <a:prstDash val="solid"/>
          </a:ln>
        </p:spPr>
      </p:sp>
      <p:sp>
        <p:nvSpPr>
          <p:cNvPr id="15" name="Text 13"/>
          <p:cNvSpPr txBox="1"/>
          <p:nvPr/>
        </p:nvSpPr>
        <p:spPr>
          <a:xfrm>
            <a:off x="6400800" y="3840480"/>
            <a:ext cx="2194560" cy="91440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97.95%</a:t>
            </a:r>
            <a:endParaRPr lang="en-US" sz="2800" dirty="0"/>
          </a:p>
        </p:txBody>
      </p:sp>
      <p:sp>
        <p:nvSpPr>
          <p:cNvPr id="16" name="Text 14"/>
          <p:cNvSpPr txBox="1"/>
          <p:nvPr/>
        </p:nvSpPr>
        <p:spPr>
          <a:xfrm>
            <a:off x="6400800" y="4800600"/>
            <a:ext cx="2194560" cy="1005840"/>
          </a:xfrm>
          <a:prstGeom prst="rect">
            <a:avLst/>
          </a:prstGeom>
          <a:noFill/>
          <a:ln/>
        </p:spPr>
        <p:txBody>
          <a:bodyPr wrap="square" lIns="0" tIns="0" rIns="0" bIns="0" rtlCol="0" anchor="t"/>
          <a:lstStyle/>
          <a:p>
            <a:pPr indent="0" marL="0">
              <a:buNone/>
            </a:pPr>
            <a:r>
              <a:rPr lang="en-US" sz="1400" dirty="0">
                <a:solidFill>
                  <a:schemeClr val="tx2"/>
                </a:solidFill>
              </a:rPr>
              <a:t>of cells are 0</a:t>
            </a:r>
            <a:endParaRPr lang="en-US" sz="1400" dirty="0"/>
          </a:p>
        </p:txBody>
      </p:sp>
      <p:sp>
        <p:nvSpPr>
          <p:cNvPr id="17" name="mstat3"/>
          <p:cNvSpPr/>
          <p:nvPr/>
        </p:nvSpPr>
        <p:spPr>
          <a:xfrm>
            <a:off x="9052560" y="3657600"/>
            <a:ext cx="2560320" cy="2331720"/>
          </a:xfrm>
          <a:prstGeom prst="roundRect">
            <a:avLst>
              <a:gd name="adj" fmla="val 4706"/>
            </a:avLst>
          </a:prstGeom>
          <a:solidFill>
            <a:schemeClr val="bg2"/>
          </a:solidFill>
          <a:ln w="12700">
            <a:solidFill>
              <a:schemeClr val="bg2"/>
            </a:solidFill>
            <a:prstDash val="solid"/>
          </a:ln>
        </p:spPr>
      </p:sp>
      <p:sp>
        <p:nvSpPr>
          <p:cNvPr id="18" name="Text 16"/>
          <p:cNvSpPr txBox="1"/>
          <p:nvPr/>
        </p:nvSpPr>
        <p:spPr>
          <a:xfrm>
            <a:off x="9235440" y="3840480"/>
            <a:ext cx="2194560" cy="91440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4.96 MB</a:t>
            </a:r>
            <a:endParaRPr lang="en-US" sz="2800" dirty="0"/>
          </a:p>
        </p:txBody>
      </p:sp>
      <p:sp>
        <p:nvSpPr>
          <p:cNvPr id="19" name="Text 17"/>
          <p:cNvSpPr txBox="1"/>
          <p:nvPr/>
        </p:nvSpPr>
        <p:spPr>
          <a:xfrm>
            <a:off x="9235440" y="4800600"/>
            <a:ext cx="2194560" cy="1005840"/>
          </a:xfrm>
          <a:prstGeom prst="rect">
            <a:avLst/>
          </a:prstGeom>
          <a:noFill/>
          <a:ln/>
        </p:spPr>
        <p:txBody>
          <a:bodyPr wrap="square" lIns="0" tIns="0" rIns="0" bIns="0" rtlCol="0" anchor="t"/>
          <a:lstStyle/>
          <a:p>
            <a:pPr indent="0" marL="0">
              <a:buNone/>
            </a:pPr>
            <a:r>
              <a:rPr lang="en-US" sz="1400" dirty="0">
                <a:solidFill>
                  <a:schemeClr val="tx2"/>
                </a:solidFill>
              </a:rPr>
              <a:t>stored sparse (160.6 MB if stored dense)</a:t>
            </a:r>
            <a:endParaRPr lang="en-US" sz="1400" dirty="0"/>
          </a:p>
        </p:txBody>
      </p:sp>
      <p:sp>
        <p:nvSpPr>
          <p:cNvPr id="20" name="presenter"/>
          <p:cNvSpPr txBox="1"/>
          <p:nvPr/>
        </p:nvSpPr>
        <p:spPr>
          <a:xfrm>
            <a:off x="9326880" y="6400800"/>
            <a:ext cx="1737360" cy="274320"/>
          </a:xfrm>
          <a:prstGeom prst="rect">
            <a:avLst/>
          </a:prstGeom>
          <a:noFill/>
          <a:ln/>
        </p:spPr>
        <p:txBody>
          <a:bodyPr wrap="square" lIns="0" tIns="0" rIns="0" bIns="0" rtlCol="0" anchor="ctr"/>
          <a:lstStyle/>
          <a:p>
            <a:pPr algn="r" indent="0" marL="0">
              <a:buNone/>
            </a:pPr>
            <a:r>
              <a:rPr lang="en-US" sz="1000" dirty="0">
                <a:solidFill>
                  <a:schemeClr val="accent5"/>
                </a:solidFill>
              </a:rPr>
              <a:t>Achintya</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SVD finds buying patterns; validation picked k = 100</a:t>
            </a:r>
            <a:endParaRPr lang="en-US" sz="3200" dirty="0"/>
          </a:p>
        </p:txBody>
      </p:sp>
      <p:graphicFrame>
        <p:nvGraphicFramePr>
          <p:cNvPr id="3" name="Chart 0" descr=""/>
          <p:cNvGraphicFramePr/>
          <p:nvPr/>
        </p:nvGraphicFramePr>
        <p:xfrm>
          <a:off x="4846320" y="1371600"/>
          <a:ext cx="6766560" cy="48463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 y="1463040"/>
            <a:ext cx="4023360" cy="4754880"/>
          </a:xfrm>
          <a:prstGeom prst="rect">
            <a:avLst/>
          </a:prstGeom>
          <a:noFill/>
          <a:ln/>
        </p:spPr>
        <p:txBody>
          <a:bodyPr wrap="square" lIns="0" tIns="0" rIns="0" bIns="0" rtlCol="0" anchor="t"/>
          <a:lstStyle/>
          <a:p>
            <a:pPr indent="0" marL="0">
              <a:buNone/>
            </a:pPr>
            <a:r>
              <a:rPr lang="en-US" sz="1400" b="1" dirty="0">
                <a:solidFill>
                  <a:schemeClr val="accent1"/>
                </a:solidFill>
              </a:rPr>
              <a:t>Why SVD</a:t>
            </a:r>
            <a:endParaRPr lang="en-US" sz="1400" dirty="0"/>
          </a:p>
          <a:p>
            <a:pPr indent="0" marL="0">
              <a:buNone/>
            </a:pPr>
            <a:r>
              <a:rPr lang="en-US" sz="1400" dirty="0">
                <a:solidFill>
                  <a:schemeClr val="tx2"/>
                </a:solidFill>
              </a:rPr>
              <a:t>Works on the sparse matrix as it is, and gives product and customer factors in one fit.</a:t>
            </a:r>
            <a:endParaRPr lang="en-US" sz="1400" dirty="0"/>
          </a:p>
          <a:p>
            <a:pPr indent="0" marL="0">
              <a:buNone/>
            </a:pPr>
            <a:r>
              <a:rPr lang="en-US" sz="600" dirty="0">
                <a:solidFill>
                  <a:schemeClr val="tx2"/>
                </a:solidFill>
              </a:rPr>
              <a:t> </a:t>
            </a:r>
            <a:endParaRPr lang="en-US" sz="1400" dirty="0"/>
          </a:p>
          <a:p>
            <a:pPr indent="0" marL="0">
              <a:buNone/>
            </a:pPr>
            <a:r>
              <a:rPr lang="en-US" sz="1400" b="1" dirty="0">
                <a:solidFill>
                  <a:schemeClr val="accent1"/>
                </a:solidFill>
              </a:rPr>
              <a:t>How k was chosen</a:t>
            </a:r>
            <a:endParaRPr lang="en-US" sz="1400" dirty="0"/>
          </a:p>
          <a:p>
            <a:pPr indent="0" marL="0">
              <a:buNone/>
            </a:pPr>
            <a:r>
              <a:rPr lang="en-US" sz="1400" dirty="0">
                <a:solidFill>
                  <a:schemeClr val="tx2"/>
                </a:solidFill>
              </a:rPr>
              <a:t>Learn from orders before 9 Aug 2011, check first-time buys up to 9 Oct. The test months stay untouched. Smallest k within 1 point of the best.</a:t>
            </a:r>
            <a:endParaRPr lang="en-US" sz="1400" dirty="0"/>
          </a:p>
          <a:p>
            <a:pPr indent="0" marL="0">
              <a:buNone/>
            </a:pPr>
            <a:r>
              <a:rPr lang="en-US" sz="600" dirty="0">
                <a:solidFill>
                  <a:schemeClr val="tx2"/>
                </a:solidFill>
              </a:rPr>
              <a:t> </a:t>
            </a:r>
            <a:endParaRPr lang="en-US" sz="1400" dirty="0"/>
          </a:p>
          <a:p>
            <a:pPr indent="0" marL="0">
              <a:buNone/>
            </a:pPr>
            <a:r>
              <a:rPr lang="en-US" sz="1400" b="1" dirty="0">
                <a:solidFill>
                  <a:schemeClr val="accent1"/>
                </a:solidFill>
              </a:rPr>
              <a:t>A surprise</a:t>
            </a:r>
            <a:endParaRPr lang="en-US" sz="1400" dirty="0"/>
          </a:p>
          <a:p>
            <a:pPr indent="0" marL="0">
              <a:buNone/>
            </a:pPr>
            <a:r>
              <a:rPr lang="en-US" sz="1400" dirty="0">
                <a:solidFill>
                  <a:schemeClr val="tx2"/>
                </a:solidFill>
              </a:rPr>
              <a:t>The starter code's cosine scoring never beat best sellers. Scoring with plain dot products (the rank-k rebuild) did: 41.9% at k = 100.</a:t>
            </a:r>
            <a:endParaRPr lang="en-US" sz="1400" dirty="0"/>
          </a:p>
        </p:txBody>
      </p:sp>
      <p:sp>
        <p:nvSpPr>
          <p:cNvPr id="5" name="presenter"/>
          <p:cNvSpPr txBox="1"/>
          <p:nvPr/>
        </p:nvSpPr>
        <p:spPr>
          <a:xfrm>
            <a:off x="9326880" y="6400800"/>
            <a:ext cx="1737360" cy="274320"/>
          </a:xfrm>
          <a:prstGeom prst="rect">
            <a:avLst/>
          </a:prstGeom>
          <a:noFill/>
          <a:ln/>
        </p:spPr>
        <p:txBody>
          <a:bodyPr wrap="square" lIns="0" tIns="0" rIns="0" bIns="0" rtlCol="0" anchor="ctr"/>
          <a:lstStyle/>
          <a:p>
            <a:pPr algn="r" indent="0" marL="0">
              <a:buNone/>
            </a:pPr>
            <a:r>
              <a:rPr lang="en-US" sz="1000" dirty="0">
                <a:solidFill>
                  <a:schemeClr val="accent5"/>
                </a:solidFill>
              </a:rPr>
              <a:t>Tanay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On unseen purchases, suggestions beat best sellers 1.5 to 1</a:t>
            </a:r>
            <a:endParaRPr lang="en-US" sz="3200" dirty="0"/>
          </a:p>
        </p:txBody>
      </p:sp>
      <p:graphicFrame>
        <p:nvGraphicFramePr>
          <p:cNvPr id="3" name="Chart 0" descr=""/>
          <p:cNvGraphicFramePr/>
          <p:nvPr/>
        </p:nvGraphicFramePr>
        <p:xfrm>
          <a:off x="548640" y="1371600"/>
          <a:ext cx="5120640" cy="4846320"/>
        </p:xfrm>
        <a:graphic xmlns:a="http://schemas.openxmlformats.org/drawingml/2006/main">
          <a:graphicData uri="http://schemas.openxmlformats.org/drawingml/2006/chart">
            <c:chart xmlns:c="http://schemas.openxmlformats.org/drawingml/2006/chart" r:id="rId1"/>
          </a:graphicData>
        </a:graphic>
      </p:graphicFrame>
      <p:sp>
        <p:nvSpPr>
          <p:cNvPr id="4" name="boxCard"/>
          <p:cNvSpPr/>
          <p:nvPr/>
        </p:nvSpPr>
        <p:spPr>
          <a:xfrm>
            <a:off x="6126480" y="1463040"/>
            <a:ext cx="5486400" cy="2743200"/>
          </a:xfrm>
          <a:prstGeom prst="roundRect">
            <a:avLst>
              <a:gd name="adj" fmla="val 4000"/>
            </a:avLst>
          </a:prstGeom>
          <a:solidFill>
            <a:schemeClr val="bg2"/>
          </a:solidFill>
          <a:ln w="12700">
            <a:solidFill>
              <a:schemeClr val="bg2"/>
            </a:solidFill>
            <a:prstDash val="solid"/>
          </a:ln>
        </p:spPr>
      </p:sp>
      <p:sp>
        <p:nvSpPr>
          <p:cNvPr id="5" name="Text 2"/>
          <p:cNvSpPr txBox="1"/>
          <p:nvPr/>
        </p:nvSpPr>
        <p:spPr>
          <a:xfrm>
            <a:off x="6355080" y="1645920"/>
            <a:ext cx="5029200" cy="2743200"/>
          </a:xfrm>
          <a:prstGeom prst="rect">
            <a:avLst/>
          </a:prstGeom>
          <a:noFill/>
          <a:ln/>
        </p:spPr>
        <p:txBody>
          <a:bodyPr wrap="square" lIns="0" tIns="0" rIns="0" bIns="0" rtlCol="0" anchor="t"/>
          <a:lstStyle/>
          <a:p>
            <a:pPr indent="0" marL="0">
              <a:spcAft>
                <a:spcPts val="400"/>
              </a:spcAft>
              <a:buNone/>
            </a:pPr>
            <a:r>
              <a:rPr lang="en-US" sz="1500" b="1" dirty="0">
                <a:solidFill>
                  <a:schemeClr val="tx1"/>
                </a:solidFill>
              </a:rPr>
              <a:t>On the White Hanging Heart T-Light Holder page</a:t>
            </a:r>
            <a:endParaRPr lang="en-US" sz="1500" dirty="0"/>
          </a:p>
          <a:p>
            <a:pPr marL="342900" indent="-342900">
              <a:spcAft>
                <a:spcPts val="400"/>
              </a:spcAft>
              <a:buSzPct val="100000"/>
              <a:buChar char="•"/>
            </a:pPr>
            <a:r>
              <a:rPr lang="en-US" sz="1500" dirty="0">
                <a:solidFill>
                  <a:schemeClr val="tx2"/>
                </a:solidFill>
              </a:rPr>
              <a:t>Red Hanging Heart T-Light Holder</a:t>
            </a:r>
            <a:endParaRPr lang="en-US" sz="1500" dirty="0"/>
          </a:p>
          <a:p>
            <a:pPr marL="342900" indent="-342900">
              <a:spcAft>
                <a:spcPts val="400"/>
              </a:spcAft>
              <a:buSzPct val="100000"/>
              <a:buChar char="•"/>
            </a:pPr>
            <a:r>
              <a:rPr lang="en-US" sz="1500" dirty="0">
                <a:solidFill>
                  <a:schemeClr val="tx2"/>
                </a:solidFill>
              </a:rPr>
              <a:t>Candleholder Pink Hanging Heart</a:t>
            </a:r>
            <a:endParaRPr lang="en-US" sz="1500" dirty="0"/>
          </a:p>
          <a:p>
            <a:pPr marL="342900" indent="-342900">
              <a:spcAft>
                <a:spcPts val="400"/>
              </a:spcAft>
              <a:buSzPct val="100000"/>
              <a:buChar char="•"/>
            </a:pPr>
            <a:r>
              <a:rPr lang="en-US" sz="1500" dirty="0">
                <a:solidFill>
                  <a:schemeClr val="tx2"/>
                </a:solidFill>
              </a:rPr>
              <a:t>Hanging Metal Heart Lantern</a:t>
            </a:r>
            <a:endParaRPr lang="en-US" sz="1500" dirty="0"/>
          </a:p>
          <a:p>
            <a:pPr marL="342900" indent="-342900">
              <a:spcAft>
                <a:spcPts val="400"/>
              </a:spcAft>
              <a:buSzPct val="100000"/>
              <a:buChar char="•"/>
            </a:pPr>
            <a:r>
              <a:rPr lang="en-US" sz="1500" dirty="0">
                <a:solidFill>
                  <a:schemeClr val="tx2"/>
                </a:solidFill>
              </a:rPr>
              <a:t>Cream Heart Card Holder</a:t>
            </a:r>
            <a:endParaRPr lang="en-US" sz="1500" dirty="0"/>
          </a:p>
          <a:p>
            <a:pPr marL="342900" indent="-342900">
              <a:spcAft>
                <a:spcPts val="400"/>
              </a:spcAft>
              <a:buSzPct val="100000"/>
              <a:buChar char="•"/>
            </a:pPr>
            <a:r>
              <a:rPr lang="en-US" sz="1500" dirty="0">
                <a:solidFill>
                  <a:schemeClr val="tx2"/>
                </a:solidFill>
              </a:rPr>
              <a:t>White Metal Lantern</a:t>
            </a:r>
            <a:endParaRPr lang="en-US" sz="1500" dirty="0"/>
          </a:p>
        </p:txBody>
      </p:sp>
      <p:sp>
        <p:nvSpPr>
          <p:cNvPr id="6" name="Text 3"/>
          <p:cNvSpPr txBox="1"/>
          <p:nvPr/>
        </p:nvSpPr>
        <p:spPr>
          <a:xfrm>
            <a:off x="6126480" y="4754880"/>
            <a:ext cx="5486400" cy="1371600"/>
          </a:xfrm>
          <a:prstGeom prst="rect">
            <a:avLst/>
          </a:prstGeom>
          <a:noFill/>
          <a:ln/>
        </p:spPr>
        <p:txBody>
          <a:bodyPr wrap="square" lIns="0" tIns="0" rIns="0" bIns="0" rtlCol="0" anchor="t"/>
          <a:lstStyle/>
          <a:p>
            <a:pPr indent="0" marL="0">
              <a:spcAft>
                <a:spcPts val="600"/>
              </a:spcAft>
              <a:buNone/>
            </a:pPr>
            <a:r>
              <a:rPr lang="en-US" sz="1400" b="1" dirty="0">
                <a:solidFill>
                  <a:schemeClr val="tx1"/>
                </a:solidFill>
              </a:rPr>
              <a:t>Correct products per top 10: </a:t>
            </a:r>
            <a:pPr indent="0" marL="0">
              <a:spcAft>
                <a:spcPts val="600"/>
              </a:spcAft>
              <a:buNone/>
            </a:pPr>
            <a:r>
              <a:rPr lang="en-US" sz="1400" dirty="0">
                <a:solidFill>
                  <a:schemeClr val="tx2"/>
                </a:solidFill>
              </a:rPr>
              <a:t>0.66 vs 0.36 for best sellers.</a:t>
            </a:r>
            <a:endParaRPr lang="en-US" sz="1400" dirty="0"/>
          </a:p>
          <a:p>
            <a:pPr indent="0" marL="0">
              <a:spcAft>
                <a:spcPts val="600"/>
              </a:spcAft>
              <a:buNone/>
            </a:pPr>
            <a:r>
              <a:rPr lang="en-US" sz="1400" b="1" dirty="0">
                <a:solidFill>
                  <a:schemeClr val="tx1"/>
                </a:solidFill>
              </a:rPr>
              <a:t>Validation said 41.9%, test gave 40.9%: </a:t>
            </a:r>
            <a:pPr indent="0" marL="0">
              <a:spcAft>
                <a:spcPts val="600"/>
              </a:spcAft>
              <a:buNone/>
            </a:pPr>
            <a:r>
              <a:rPr lang="en-US" sz="1400" dirty="0">
                <a:solidFill>
                  <a:schemeClr val="tx2"/>
                </a:solidFill>
              </a:rPr>
              <a:t>the validation split was a fair guide.</a:t>
            </a:r>
            <a:endParaRPr lang="en-US" sz="1400" dirty="0"/>
          </a:p>
        </p:txBody>
      </p:sp>
      <p:sp>
        <p:nvSpPr>
          <p:cNvPr id="7" name="presenter"/>
          <p:cNvSpPr txBox="1"/>
          <p:nvPr/>
        </p:nvSpPr>
        <p:spPr>
          <a:xfrm>
            <a:off x="9326880" y="6400800"/>
            <a:ext cx="1737360" cy="274320"/>
          </a:xfrm>
          <a:prstGeom prst="rect">
            <a:avLst/>
          </a:prstGeom>
          <a:noFill/>
          <a:ln/>
        </p:spPr>
        <p:txBody>
          <a:bodyPr wrap="square" lIns="0" tIns="0" rIns="0" bIns="0" rtlCol="0" anchor="ctr"/>
          <a:lstStyle/>
          <a:p>
            <a:pPr algn="r" indent="0" marL="0">
              <a:buNone/>
            </a:pPr>
            <a:r>
              <a:rPr lang="en-US" sz="1000" dirty="0">
                <a:solidFill>
                  <a:schemeClr val="accent5"/>
                </a:solidFill>
              </a:rPr>
              <a:t>Tanay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PCA and SVD came out almost the same on this matrix</a:t>
            </a:r>
            <a:endParaRPr 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6766560" cy="914400"/>
        </p:xfrm>
        <a:graphic>
          <a:graphicData uri="http://schemas.openxmlformats.org/drawingml/2006/table">
            <a:tbl>
              <a:tblPr/>
              <a:tblGrid>
                <a:gridCol w="2743200"/>
                <a:gridCol w="2011680"/>
                <a:gridCol w="2011680"/>
              </a:tblGrid>
              <a:tr h="566928">
                <a:tc>
                  <a:txBody>
                    <a:bodyPr/>
                    <a:lstStyle/>
                    <a:p>
                      <a:pPr indent="0" marL="0">
                        <a:buNone/>
                      </a:pPr>
                      <a:r>
                        <a:rPr lang="en-US" sz="1400" b="1" dirty="0">
                          <a:solidFill>
                            <a:schemeClr val="bg1"/>
                          </a:solidFill>
                        </a:rPr>
                        <a:t>Measure</a:t>
                      </a:r>
                      <a:endParaRPr lang="en-US" sz="1400" dirty="0"/>
                    </a:p>
                  </a:txBody>
                  <a:tcPr marL="91440" marR="91440" marT="45720" marB="4572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PCA</a:t>
                      </a:r>
                      <a:endParaRPr lang="en-US" sz="1400" dirty="0"/>
                    </a:p>
                  </a:txBody>
                  <a:tcPr marL="91440" marR="91440" marT="45720" marB="4572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Truncated SVD</a:t>
                      </a:r>
                      <a:endParaRPr lang="en-US" sz="1400" dirty="0"/>
                    </a:p>
                  </a:txBody>
                  <a:tcPr marL="91440" marR="91440" marT="45720" marB="4572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chemeClr val="tx1"/>
                    </a:solidFill>
                  </a:tcPr>
                </a:tc>
              </a:tr>
              <a:tr h="566928">
                <a:tc>
                  <a:txBody>
                    <a:bodyPr/>
                    <a:lstStyle/>
                    <a:p>
                      <a:pPr indent="0" marL="0">
                        <a:buNone/>
                      </a:pPr>
                      <a:r>
                        <a:rPr lang="en-US" sz="1400" dirty="0">
                          <a:solidFill>
                            <a:schemeClr val="tx1"/>
                          </a:solidFill>
                        </a:rPr>
                        <a:t>Fit time</a:t>
                      </a:r>
                      <a:endParaRPr lang="en-US" sz="1400" dirty="0"/>
                    </a:p>
                  </a:txBody>
                  <a:tcPr marL="91440" marR="91440" marT="45720" marB="4572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0.30 s</a:t>
                      </a:r>
                      <a:endParaRPr lang="en-US" sz="1400" dirty="0"/>
                    </a:p>
                  </a:txBody>
                  <a:tcPr marL="91440" marR="91440" marT="45720" marB="4572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0.21 s</a:t>
                      </a:r>
                      <a:endParaRPr lang="en-US" sz="1400" dirty="0"/>
                    </a:p>
                  </a:txBody>
                  <a:tcPr marL="91440" marR="91440" marT="45720" marB="4572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chemeClr val="bg1"/>
                    </a:solidFill>
                  </a:tcPr>
                </a:tc>
              </a:tr>
              <a:tr h="566928">
                <a:tc>
                  <a:txBody>
                    <a:bodyPr/>
                    <a:lstStyle/>
                    <a:p>
                      <a:pPr indent="0" marL="0">
                        <a:buNone/>
                      </a:pPr>
                      <a:r>
                        <a:rPr lang="en-US" sz="1400" dirty="0">
                          <a:solidFill>
                            <a:schemeClr val="tx1"/>
                          </a:solidFill>
                        </a:rPr>
                        <a:t>Peak memory during fit</a:t>
                      </a:r>
                      <a:endParaRPr lang="en-US" sz="1400" dirty="0"/>
                    </a:p>
                  </a:txBody>
                  <a:tcPr marL="91440" marR="91440" marT="45720" marB="4572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16.6 MB</a:t>
                      </a:r>
                      <a:endParaRPr lang="en-US" sz="1400" dirty="0"/>
                    </a:p>
                  </a:txBody>
                  <a:tcPr marL="91440" marR="91440" marT="45720" marB="4572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17.8 MB</a:t>
                      </a:r>
                      <a:endParaRPr lang="en-US" sz="1400" dirty="0"/>
                    </a:p>
                  </a:txBody>
                  <a:tcPr marL="91440" marR="91440" marT="45720" marB="4572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chemeClr val="bg1"/>
                    </a:solidFill>
                  </a:tcPr>
                </a:tc>
              </a:tr>
              <a:tr h="566928">
                <a:tc>
                  <a:txBody>
                    <a:bodyPr/>
                    <a:lstStyle/>
                    <a:p>
                      <a:pPr indent="0" marL="0">
                        <a:buNone/>
                      </a:pPr>
                      <a:r>
                        <a:rPr lang="en-US" sz="1400" dirty="0">
                          <a:solidFill>
                            <a:schemeClr val="tx1"/>
                          </a:solidFill>
                        </a:rPr>
                        <a:t>Stored factors</a:t>
                      </a:r>
                      <a:endParaRPr lang="en-US" sz="1400" dirty="0"/>
                    </a:p>
                  </a:txBody>
                  <a:tcPr marL="91440" marR="91440" marT="45720" marB="4572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7.34 MB</a:t>
                      </a:r>
                      <a:endParaRPr lang="en-US" sz="1400" dirty="0"/>
                    </a:p>
                  </a:txBody>
                  <a:tcPr marL="91440" marR="91440" marT="45720" marB="4572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7.31 MB</a:t>
                      </a:r>
                      <a:endParaRPr lang="en-US" sz="1400" dirty="0"/>
                    </a:p>
                  </a:txBody>
                  <a:tcPr marL="91440" marR="91440" marT="45720" marB="4572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chemeClr val="bg1"/>
                    </a:solidFill>
                  </a:tcPr>
                </a:tc>
              </a:tr>
              <a:tr h="566928">
                <a:tc>
                  <a:txBody>
                    <a:bodyPr/>
                    <a:lstStyle/>
                    <a:p>
                      <a:pPr indent="0" marL="0">
                        <a:buNone/>
                      </a:pPr>
                      <a:r>
                        <a:rPr lang="en-US" sz="1400" dirty="0">
                          <a:solidFill>
                            <a:schemeClr val="tx1"/>
                          </a:solidFill>
                        </a:rPr>
                        <a:t>Variance kept</a:t>
                      </a:r>
                      <a:endParaRPr lang="en-US" sz="1400" dirty="0"/>
                    </a:p>
                  </a:txBody>
                  <a:tcPr marL="91440" marR="91440" marT="45720" marB="4572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36.2%</a:t>
                      </a:r>
                      <a:endParaRPr lang="en-US" sz="1400" dirty="0"/>
                    </a:p>
                  </a:txBody>
                  <a:tcPr marL="91440" marR="91440" marT="45720" marB="4572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36.0%</a:t>
                      </a:r>
                      <a:endParaRPr lang="en-US" sz="1400" dirty="0"/>
                    </a:p>
                  </a:txBody>
                  <a:tcPr marL="91440" marR="91440" marT="45720" marB="4572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chemeClr val="bg1"/>
                    </a:solidFill>
                  </a:tcPr>
                </a:tc>
              </a:tr>
              <a:tr h="566928">
                <a:tc>
                  <a:txBody>
                    <a:bodyPr/>
                    <a:lstStyle/>
                    <a:p>
                      <a:pPr indent="0" marL="0">
                        <a:buNone/>
                      </a:pPr>
                      <a:r>
                        <a:rPr lang="en-US" sz="1400" dirty="0">
                          <a:solidFill>
                            <a:schemeClr val="tx1"/>
                          </a:solidFill>
                        </a:rPr>
                        <a:t>Hit rate at 10 (test)</a:t>
                      </a:r>
                      <a:endParaRPr lang="en-US" sz="1400" dirty="0"/>
                    </a:p>
                  </a:txBody>
                  <a:tcPr marL="91440" marR="91440" marT="45720" marB="4572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40.2%</a:t>
                      </a:r>
                      <a:endParaRPr lang="en-US" sz="1400" dirty="0"/>
                    </a:p>
                  </a:txBody>
                  <a:tcPr marL="91440" marR="91440" marT="45720" marB="4572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40.9%</a:t>
                      </a:r>
                      <a:endParaRPr lang="en-US" sz="1400" dirty="0"/>
                    </a:p>
                  </a:txBody>
                  <a:tcPr marL="91440" marR="91440" marT="45720" marB="4572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chemeClr val="bg1"/>
                    </a:solidFill>
                  </a:tcPr>
                </a:tc>
              </a:tr>
              <a:tr h="566928">
                <a:tc>
                  <a:txBody>
                    <a:bodyPr/>
                    <a:lstStyle/>
                    <a:p>
                      <a:pPr indent="0" marL="0">
                        <a:buNone/>
                      </a:pPr>
                      <a:r>
                        <a:rPr lang="en-US" sz="1400" dirty="0">
                          <a:solidFill>
                            <a:schemeClr val="tx1"/>
                          </a:solidFill>
                        </a:rPr>
                        <a:t>Component 1</a:t>
                      </a:r>
                      <a:endParaRPr lang="en-US" sz="1400" dirty="0"/>
                    </a:p>
                  </a:txBody>
                  <a:tcPr marL="91440" marR="91440" marT="45720" marB="4572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basket size (corr 0.98)</a:t>
                      </a:r>
                      <a:endParaRPr lang="en-US" sz="1400" dirty="0"/>
                    </a:p>
                  </a:txBody>
                  <a:tcPr marL="91440" marR="91440" marT="45720" marB="4572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basket size (corr 0.98)</a:t>
                      </a:r>
                      <a:endParaRPr lang="en-US" sz="1400" dirty="0"/>
                    </a:p>
                  </a:txBody>
                  <a:tcPr marL="91440" marR="91440" marT="45720" marB="45720" anchor="ctr">
                    <a:lnL w="9525" cap="flat" cmpd="sng" algn="ctr">
                      <a:solidFill>
                        <a:srgbClr val="DDE1E6"/>
                      </a:solidFill>
                      <a:prstDash val="solid"/>
                      <a:round/>
                      <a:headEnd type="none" w="med" len="med"/>
                      <a:tailEnd type="none" w="med" len="med"/>
                    </a:lnL>
                    <a:lnR w="9525" cap="flat" cmpd="sng" algn="ctr">
                      <a:solidFill>
                        <a:srgbClr val="DDE1E6"/>
                      </a:solidFill>
                      <a:prstDash val="solid"/>
                      <a:round/>
                      <a:headEnd type="none" w="med" len="med"/>
                      <a:tailEnd type="none" w="med" len="med"/>
                    </a:lnR>
                    <a:lnT w="9525" cap="flat" cmpd="sng" algn="ctr">
                      <a:solidFill>
                        <a:srgbClr val="DDE1E6"/>
                      </a:solidFill>
                      <a:prstDash val="solid"/>
                      <a:round/>
                      <a:headEnd type="none" w="med" len="med"/>
                      <a:tailEnd type="none" w="med" len="med"/>
                    </a:lnT>
                    <a:lnB w="9525" cap="flat" cmpd="sng" algn="ctr">
                      <a:solidFill>
                        <a:srgbClr val="DDE1E6"/>
                      </a:solidFill>
                      <a:prstDash val="solid"/>
                      <a:round/>
                      <a:headEnd type="none" w="med" len="med"/>
                      <a:tailEnd type="none" w="med" len="med"/>
                    </a:lnB>
                    <a:solidFill>
                      <a:schemeClr val="bg1"/>
                    </a:solidFill>
                  </a:tcPr>
                </a:tc>
              </a:tr>
            </a:tbl>
          </a:graphicData>
        </a:graphic>
      </p:graphicFrame>
      <p:sp>
        <p:nvSpPr>
          <p:cNvPr id="4" name="whyCard"/>
          <p:cNvSpPr/>
          <p:nvPr/>
        </p:nvSpPr>
        <p:spPr>
          <a:xfrm>
            <a:off x="7772400" y="1463040"/>
            <a:ext cx="3840480" cy="4023360"/>
          </a:xfrm>
          <a:prstGeom prst="roundRect">
            <a:avLst>
              <a:gd name="adj" fmla="val 2857"/>
            </a:avLst>
          </a:prstGeom>
          <a:solidFill>
            <a:schemeClr val="bg2"/>
          </a:solidFill>
          <a:ln w="12700">
            <a:solidFill>
              <a:schemeClr val="bg2"/>
            </a:solidFill>
            <a:prstDash val="solid"/>
          </a:ln>
        </p:spPr>
      </p:sp>
      <p:sp>
        <p:nvSpPr>
          <p:cNvPr id="5" name="Text 2"/>
          <p:cNvSpPr txBox="1"/>
          <p:nvPr/>
        </p:nvSpPr>
        <p:spPr>
          <a:xfrm>
            <a:off x="8001000" y="1645920"/>
            <a:ext cx="3383280" cy="3657600"/>
          </a:xfrm>
          <a:prstGeom prst="rect">
            <a:avLst/>
          </a:prstGeom>
          <a:noFill/>
          <a:ln/>
        </p:spPr>
        <p:txBody>
          <a:bodyPr wrap="square" lIns="0" tIns="0" rIns="0" bIns="0" rtlCol="0" anchor="t"/>
          <a:lstStyle/>
          <a:p>
            <a:pPr indent="0" marL="0">
              <a:buNone/>
            </a:pPr>
            <a:r>
              <a:rPr lang="en-US" sz="1500" b="1" dirty="0">
                <a:solidFill>
                  <a:schemeClr val="accent1"/>
                </a:solidFill>
              </a:rPr>
              <a:t>Why so close</a:t>
            </a:r>
            <a:endParaRPr lang="en-US" sz="1500" dirty="0"/>
          </a:p>
          <a:p>
            <a:pPr indent="0" marL="0">
              <a:buNone/>
            </a:pPr>
            <a:r>
              <a:rPr lang="en-US" sz="1500" dirty="0">
                <a:solidFill>
                  <a:schemeClr val="tx2"/>
                </a:solidFill>
              </a:rPr>
              <a:t>Product averages are tiny: the median product was bought by 1.2% of shops. Subtracting them barely moves the matrix.</a:t>
            </a:r>
            <a:endParaRPr lang="en-US" sz="1500" dirty="0"/>
          </a:p>
          <a:p>
            <a:pPr indent="0" marL="0">
              <a:buNone/>
            </a:pPr>
            <a:r>
              <a:rPr lang="en-US" sz="600" dirty="0">
                <a:solidFill>
                  <a:schemeClr val="tx2"/>
                </a:solidFill>
              </a:rPr>
              <a:t> </a:t>
            </a:r>
            <a:endParaRPr lang="en-US" sz="1500" dirty="0"/>
          </a:p>
          <a:p>
            <a:pPr indent="0" marL="0">
              <a:buNone/>
            </a:pPr>
            <a:r>
              <a:rPr lang="en-US" sz="1500" b="1" dirty="0">
                <a:solidFill>
                  <a:schemeClr val="accent1"/>
                </a:solidFill>
              </a:rPr>
              <a:t>What we kept</a:t>
            </a:r>
            <a:endParaRPr lang="en-US" sz="1500" dirty="0"/>
          </a:p>
          <a:p>
            <a:pPr indent="0" marL="0">
              <a:buNone/>
            </a:pPr>
            <a:r>
              <a:rPr lang="en-US" sz="1500" dirty="0">
                <a:solidFill>
                  <a:schemeClr val="tx2"/>
                </a:solidFill>
              </a:rPr>
              <a:t>SVD: same accuracy, a bit faster, and it works on the matrix exactly as built.</a:t>
            </a:r>
            <a:endParaRPr lang="en-US" sz="1500" dirty="0"/>
          </a:p>
        </p:txBody>
      </p:sp>
      <p:sp>
        <p:nvSpPr>
          <p:cNvPr id="6" name="presenter"/>
          <p:cNvSpPr txBox="1"/>
          <p:nvPr/>
        </p:nvSpPr>
        <p:spPr>
          <a:xfrm>
            <a:off x="9326880" y="6400800"/>
            <a:ext cx="1737360" cy="274320"/>
          </a:xfrm>
          <a:prstGeom prst="rect">
            <a:avLst/>
          </a:prstGeom>
          <a:noFill/>
          <a:ln/>
        </p:spPr>
        <p:txBody>
          <a:bodyPr wrap="square" lIns="0" tIns="0" rIns="0" bIns="0" rtlCol="0" anchor="ctr"/>
          <a:lstStyle/>
          <a:p>
            <a:pPr algn="r" indent="0" marL="0">
              <a:buNone/>
            </a:pPr>
            <a:r>
              <a:rPr lang="en-US" sz="1000" dirty="0">
                <a:solidFill>
                  <a:schemeClr val="accent5"/>
                </a:solidFill>
              </a:rPr>
              <a:t>Tanay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Six customer groups, named from what they buy</a:t>
            </a:r>
            <a:endParaRPr lang="en-US" sz="3200" dirty="0"/>
          </a:p>
        </p:txBody>
      </p:sp>
      <p:pic>
        <p:nvPicPr>
          <p:cNvPr id="3" name="Image 0" descr="Scatter map of GiftLane customers on SVD components 2 and 3, coloured by six groups">    </p:cNvPr>
          <p:cNvPicPr>
            <a:picLocks noChangeAspect="1"/>
          </p:cNvPicPr>
          <p:nvPr/>
        </p:nvPicPr>
        <p:blipFill>
          <a:blip r:embed="rId1"/>
          <a:stretch>
            <a:fillRect/>
          </a:stretch>
        </p:blipFill>
        <p:spPr>
          <a:xfrm>
            <a:off x="548640" y="1325880"/>
            <a:ext cx="6355080" cy="4855464"/>
          </a:xfrm>
          <a:prstGeom prst="rect">
            <a:avLst/>
          </a:prstGeom>
        </p:spPr>
      </p:pic>
      <p:sp>
        <p:nvSpPr>
          <p:cNvPr id="4" name="dot0"/>
          <p:cNvSpPr/>
          <p:nvPr/>
        </p:nvSpPr>
        <p:spPr>
          <a:xfrm>
            <a:off x="7223760" y="1527048"/>
            <a:ext cx="256032" cy="256032"/>
          </a:xfrm>
          <a:prstGeom prst="ellipse">
            <a:avLst/>
          </a:prstGeom>
          <a:solidFill>
            <a:srgbClr val="1F77B4"/>
          </a:solidFill>
          <a:ln w="12700">
            <a:solidFill>
              <a:srgbClr val="1F77B4"/>
            </a:solidFill>
            <a:prstDash val="solid"/>
          </a:ln>
        </p:spPr>
      </p:sp>
      <p:sp>
        <p:nvSpPr>
          <p:cNvPr id="5" name="Text 2"/>
          <p:cNvSpPr txBox="1"/>
          <p:nvPr/>
        </p:nvSpPr>
        <p:spPr>
          <a:xfrm>
            <a:off x="7635240" y="1417320"/>
            <a:ext cx="4023360" cy="731520"/>
          </a:xfrm>
          <a:prstGeom prst="rect">
            <a:avLst/>
          </a:prstGeom>
          <a:noFill/>
          <a:ln/>
        </p:spPr>
        <p:txBody>
          <a:bodyPr wrap="square" lIns="0" tIns="0" rIns="0" bIns="0" rtlCol="0" anchor="t"/>
          <a:lstStyle/>
          <a:p>
            <a:pPr indent="0" marL="0">
              <a:buNone/>
            </a:pPr>
            <a:r>
              <a:rPr lang="en-US" sz="1500" b="1" dirty="0">
                <a:solidFill>
                  <a:schemeClr val="tx1"/>
                </a:solidFill>
              </a:rPr>
              <a:t>Heart and wicker home decor  </a:t>
            </a:r>
            <a:pPr indent="0" marL="0">
              <a:buNone/>
            </a:pPr>
            <a:r>
              <a:rPr lang="en-US" sz="1200" dirty="0">
                <a:solidFill>
                  <a:schemeClr val="accent5"/>
                </a:solidFill>
              </a:rPr>
              <a:t>1,321 shops</a:t>
            </a:r>
            <a:endParaRPr lang="en-US" sz="1500" dirty="0"/>
          </a:p>
          <a:p>
            <a:pPr indent="0" marL="0">
              <a:buNone/>
            </a:pPr>
            <a:r>
              <a:rPr lang="en-US" sz="1300" dirty="0">
                <a:solidFill>
                  <a:schemeClr val="tx2"/>
                </a:solidFill>
              </a:rPr>
              <a:t>Hanging and wicker hearts; 98% UK</a:t>
            </a:r>
            <a:endParaRPr lang="en-US" sz="1500" dirty="0"/>
          </a:p>
        </p:txBody>
      </p:sp>
      <p:sp>
        <p:nvSpPr>
          <p:cNvPr id="6" name="dot1"/>
          <p:cNvSpPr/>
          <p:nvPr/>
        </p:nvSpPr>
        <p:spPr>
          <a:xfrm>
            <a:off x="7223760" y="2313432"/>
            <a:ext cx="256032" cy="256032"/>
          </a:xfrm>
          <a:prstGeom prst="ellipse">
            <a:avLst/>
          </a:prstGeom>
          <a:solidFill>
            <a:srgbClr val="FF7F0E"/>
          </a:solidFill>
          <a:ln w="12700">
            <a:solidFill>
              <a:srgbClr val="FF7F0E"/>
            </a:solidFill>
            <a:prstDash val="solid"/>
          </a:ln>
        </p:spPr>
      </p:sp>
      <p:sp>
        <p:nvSpPr>
          <p:cNvPr id="7" name="Text 4"/>
          <p:cNvSpPr txBox="1"/>
          <p:nvPr/>
        </p:nvSpPr>
        <p:spPr>
          <a:xfrm>
            <a:off x="7635240" y="2203704"/>
            <a:ext cx="4023360" cy="731520"/>
          </a:xfrm>
          <a:prstGeom prst="rect">
            <a:avLst/>
          </a:prstGeom>
          <a:noFill/>
          <a:ln/>
        </p:spPr>
        <p:txBody>
          <a:bodyPr wrap="square" lIns="0" tIns="0" rIns="0" bIns="0" rtlCol="0" anchor="t"/>
          <a:lstStyle/>
          <a:p>
            <a:pPr indent="0" marL="0">
              <a:buNone/>
            </a:pPr>
            <a:r>
              <a:rPr lang="en-US" sz="1500" b="1" dirty="0">
                <a:solidFill>
                  <a:schemeClr val="tx1"/>
                </a:solidFill>
              </a:rPr>
              <a:t>Traditional toys and crafts  </a:t>
            </a:r>
            <a:pPr indent="0" marL="0">
              <a:buNone/>
            </a:pPr>
            <a:r>
              <a:rPr lang="en-US" sz="1200" dirty="0">
                <a:solidFill>
                  <a:schemeClr val="accent5"/>
                </a:solidFill>
              </a:rPr>
              <a:t>945 shops</a:t>
            </a:r>
            <a:endParaRPr lang="en-US" sz="1500" dirty="0"/>
          </a:p>
          <a:p>
            <a:pPr indent="0" marL="0">
              <a:buNone/>
            </a:pPr>
            <a:r>
              <a:rPr lang="en-US" sz="1300" dirty="0">
                <a:solidFill>
                  <a:schemeClr val="tx2"/>
                </a:solidFill>
              </a:rPr>
              <a:t>Paint sets, modelling clay, dominoes</a:t>
            </a:r>
            <a:endParaRPr lang="en-US" sz="1500" dirty="0"/>
          </a:p>
        </p:txBody>
      </p:sp>
      <p:sp>
        <p:nvSpPr>
          <p:cNvPr id="8" name="dot2"/>
          <p:cNvSpPr/>
          <p:nvPr/>
        </p:nvSpPr>
        <p:spPr>
          <a:xfrm>
            <a:off x="7223760" y="3099816"/>
            <a:ext cx="256032" cy="256032"/>
          </a:xfrm>
          <a:prstGeom prst="ellipse">
            <a:avLst/>
          </a:prstGeom>
          <a:solidFill>
            <a:srgbClr val="2CA02C"/>
          </a:solidFill>
          <a:ln w="12700">
            <a:solidFill>
              <a:srgbClr val="2CA02C"/>
            </a:solidFill>
            <a:prstDash val="solid"/>
          </a:ln>
        </p:spPr>
      </p:sp>
      <p:sp>
        <p:nvSpPr>
          <p:cNvPr id="9" name="Text 6"/>
          <p:cNvSpPr txBox="1"/>
          <p:nvPr/>
        </p:nvSpPr>
        <p:spPr>
          <a:xfrm>
            <a:off x="7635240" y="2990088"/>
            <a:ext cx="4023360" cy="731520"/>
          </a:xfrm>
          <a:prstGeom prst="rect">
            <a:avLst/>
          </a:prstGeom>
          <a:noFill/>
          <a:ln/>
        </p:spPr>
        <p:txBody>
          <a:bodyPr wrap="square" lIns="0" tIns="0" rIns="0" bIns="0" rtlCol="0" anchor="t"/>
          <a:lstStyle/>
          <a:p>
            <a:pPr indent="0" marL="0">
              <a:buNone/>
            </a:pPr>
            <a:r>
              <a:rPr lang="en-US" sz="1500" b="1" dirty="0">
                <a:solidFill>
                  <a:schemeClr val="tx1"/>
                </a:solidFill>
              </a:rPr>
              <a:t>Funny metal signs  </a:t>
            </a:r>
            <a:pPr indent="0" marL="0">
              <a:buNone/>
            </a:pPr>
            <a:r>
              <a:rPr lang="en-US" sz="1200" dirty="0">
                <a:solidFill>
                  <a:schemeClr val="accent5"/>
                </a:solidFill>
              </a:rPr>
              <a:t>935 shops</a:t>
            </a:r>
            <a:endParaRPr lang="en-US" sz="1500" dirty="0"/>
          </a:p>
          <a:p>
            <a:pPr indent="0" marL="0">
              <a:buNone/>
            </a:pPr>
            <a:r>
              <a:rPr lang="en-US" sz="1300" dirty="0">
                <a:solidFill>
                  <a:schemeClr val="tx2"/>
                </a:solidFill>
              </a:rPr>
              <a:t>Novelty metal signs; narrowest range</a:t>
            </a:r>
            <a:endParaRPr lang="en-US" sz="1500" dirty="0"/>
          </a:p>
        </p:txBody>
      </p:sp>
      <p:sp>
        <p:nvSpPr>
          <p:cNvPr id="10" name="dot3"/>
          <p:cNvSpPr/>
          <p:nvPr/>
        </p:nvSpPr>
        <p:spPr>
          <a:xfrm>
            <a:off x="7223760" y="3886200"/>
            <a:ext cx="256032" cy="256032"/>
          </a:xfrm>
          <a:prstGeom prst="ellipse">
            <a:avLst/>
          </a:prstGeom>
          <a:solidFill>
            <a:srgbClr val="D62728"/>
          </a:solidFill>
          <a:ln w="12700">
            <a:solidFill>
              <a:srgbClr val="D62728"/>
            </a:solidFill>
            <a:prstDash val="solid"/>
          </a:ln>
        </p:spPr>
      </p:sp>
      <p:sp>
        <p:nvSpPr>
          <p:cNvPr id="11" name="Text 8"/>
          <p:cNvSpPr txBox="1"/>
          <p:nvPr/>
        </p:nvSpPr>
        <p:spPr>
          <a:xfrm>
            <a:off x="7635240" y="3776472"/>
            <a:ext cx="4023360" cy="731520"/>
          </a:xfrm>
          <a:prstGeom prst="rect">
            <a:avLst/>
          </a:prstGeom>
          <a:noFill/>
          <a:ln/>
        </p:spPr>
        <p:txBody>
          <a:bodyPr wrap="square" lIns="0" tIns="0" rIns="0" bIns="0" rtlCol="0" anchor="t"/>
          <a:lstStyle/>
          <a:p>
            <a:pPr indent="0" marL="0">
              <a:buNone/>
            </a:pPr>
            <a:r>
              <a:rPr lang="en-US" sz="1500" b="1" dirty="0">
                <a:solidFill>
                  <a:schemeClr val="tx1"/>
                </a:solidFill>
              </a:rPr>
              <a:t>Regency tea and baking  </a:t>
            </a:r>
            <a:pPr indent="0" marL="0">
              <a:buNone/>
            </a:pPr>
            <a:r>
              <a:rPr lang="en-US" sz="1200" dirty="0">
                <a:solidFill>
                  <a:schemeClr val="accent5"/>
                </a:solidFill>
              </a:rPr>
              <a:t>830 shops</a:t>
            </a:r>
            <a:endParaRPr lang="en-US" sz="1500" dirty="0"/>
          </a:p>
          <a:p>
            <a:pPr indent="0" marL="0">
              <a:buNone/>
            </a:pPr>
            <a:r>
              <a:rPr lang="en-US" sz="1300" dirty="0">
                <a:solidFill>
                  <a:schemeClr val="tx2"/>
                </a:solidFill>
              </a:rPr>
              <a:t>Regency teacups, teapots, cake tins</a:t>
            </a:r>
            <a:endParaRPr lang="en-US" sz="1500" dirty="0"/>
          </a:p>
        </p:txBody>
      </p:sp>
      <p:sp>
        <p:nvSpPr>
          <p:cNvPr id="12" name="dot4"/>
          <p:cNvSpPr/>
          <p:nvPr/>
        </p:nvSpPr>
        <p:spPr>
          <a:xfrm>
            <a:off x="7223760" y="4672584"/>
            <a:ext cx="256032" cy="256032"/>
          </a:xfrm>
          <a:prstGeom prst="ellipse">
            <a:avLst/>
          </a:prstGeom>
          <a:solidFill>
            <a:srgbClr val="9467BD"/>
          </a:solidFill>
          <a:ln w="12700">
            <a:solidFill>
              <a:srgbClr val="9467BD"/>
            </a:solidFill>
            <a:prstDash val="solid"/>
          </a:ln>
        </p:spPr>
      </p:sp>
      <p:sp>
        <p:nvSpPr>
          <p:cNvPr id="13" name="Text 10"/>
          <p:cNvSpPr txBox="1"/>
          <p:nvPr/>
        </p:nvSpPr>
        <p:spPr>
          <a:xfrm>
            <a:off x="7635240" y="4562856"/>
            <a:ext cx="4023360" cy="731520"/>
          </a:xfrm>
          <a:prstGeom prst="rect">
            <a:avLst/>
          </a:prstGeom>
          <a:noFill/>
          <a:ln/>
        </p:spPr>
        <p:txBody>
          <a:bodyPr wrap="square" lIns="0" tIns="0" rIns="0" bIns="0" rtlCol="0" anchor="t"/>
          <a:lstStyle/>
          <a:p>
            <a:pPr indent="0" marL="0">
              <a:buNone/>
            </a:pPr>
            <a:r>
              <a:rPr lang="en-US" sz="1500" b="1" dirty="0">
                <a:solidFill>
                  <a:schemeClr val="tx1"/>
                </a:solidFill>
              </a:rPr>
              <a:t>Kids' party tableware  </a:t>
            </a:r>
            <a:pPr indent="0" marL="0">
              <a:buNone/>
            </a:pPr>
            <a:r>
              <a:rPr lang="en-US" sz="1200" dirty="0">
                <a:solidFill>
                  <a:schemeClr val="accent5"/>
                </a:solidFill>
              </a:rPr>
              <a:t>718 shops</a:t>
            </a:r>
            <a:endParaRPr lang="en-US" sz="1500" dirty="0"/>
          </a:p>
          <a:p>
            <a:pPr indent="0" marL="0">
              <a:buNone/>
            </a:pPr>
            <a:r>
              <a:rPr lang="en-US" sz="1300" dirty="0">
                <a:solidFill>
                  <a:schemeClr val="tx2"/>
                </a:solidFill>
              </a:rPr>
              <a:t>Party paperware; most international</a:t>
            </a:r>
            <a:endParaRPr lang="en-US" sz="1500" dirty="0"/>
          </a:p>
        </p:txBody>
      </p:sp>
      <p:sp>
        <p:nvSpPr>
          <p:cNvPr id="14" name="dot5"/>
          <p:cNvSpPr/>
          <p:nvPr/>
        </p:nvSpPr>
        <p:spPr>
          <a:xfrm>
            <a:off x="7223760" y="5458968"/>
            <a:ext cx="256032" cy="256032"/>
          </a:xfrm>
          <a:prstGeom prst="ellipse">
            <a:avLst/>
          </a:prstGeom>
          <a:solidFill>
            <a:srgbClr val="8C564B"/>
          </a:solidFill>
          <a:ln w="12700">
            <a:solidFill>
              <a:srgbClr val="8C564B"/>
            </a:solidFill>
            <a:prstDash val="solid"/>
          </a:ln>
        </p:spPr>
      </p:sp>
      <p:sp>
        <p:nvSpPr>
          <p:cNvPr id="15" name="Text 12"/>
          <p:cNvSpPr txBox="1"/>
          <p:nvPr/>
        </p:nvSpPr>
        <p:spPr>
          <a:xfrm>
            <a:off x="7635240" y="5349240"/>
            <a:ext cx="4023360" cy="731520"/>
          </a:xfrm>
          <a:prstGeom prst="rect">
            <a:avLst/>
          </a:prstGeom>
          <a:noFill/>
          <a:ln/>
        </p:spPr>
        <p:txBody>
          <a:bodyPr wrap="square" lIns="0" tIns="0" rIns="0" bIns="0" rtlCol="0" anchor="t"/>
          <a:lstStyle/>
          <a:p>
            <a:pPr indent="0" marL="0">
              <a:buNone/>
            </a:pPr>
            <a:r>
              <a:rPr lang="en-US" sz="1500" b="1" dirty="0">
                <a:solidFill>
                  <a:schemeClr val="tx1"/>
                </a:solidFill>
              </a:rPr>
              <a:t>Jumbo bags and storage  </a:t>
            </a:r>
            <a:pPr indent="0" marL="0">
              <a:buNone/>
            </a:pPr>
            <a:r>
              <a:rPr lang="en-US" sz="1200" dirty="0">
                <a:solidFill>
                  <a:schemeClr val="accent5"/>
                </a:solidFill>
              </a:rPr>
              <a:t>707 shops</a:t>
            </a:r>
            <a:endParaRPr lang="en-US" sz="1500" dirty="0"/>
          </a:p>
          <a:p>
            <a:pPr indent="0" marL="0">
              <a:buNone/>
            </a:pPr>
            <a:r>
              <a:rPr lang="en-US" sz="1300" dirty="0">
                <a:solidFill>
                  <a:schemeClr val="tx2"/>
                </a:solidFill>
              </a:rPr>
              <a:t>Jumbo bags; widest range</a:t>
            </a:r>
            <a:endParaRPr lang="en-US" sz="1500" dirty="0"/>
          </a:p>
        </p:txBody>
      </p:sp>
      <p:sp>
        <p:nvSpPr>
          <p:cNvPr id="16" name="presenter"/>
          <p:cNvSpPr txBox="1"/>
          <p:nvPr/>
        </p:nvSpPr>
        <p:spPr>
          <a:xfrm>
            <a:off x="9326880" y="6400800"/>
            <a:ext cx="1737360" cy="274320"/>
          </a:xfrm>
          <a:prstGeom prst="rect">
            <a:avLst/>
          </a:prstGeom>
          <a:noFill/>
          <a:ln/>
        </p:spPr>
        <p:txBody>
          <a:bodyPr wrap="square" lIns="0" tIns="0" rIns="0" bIns="0" rtlCol="0" anchor="ctr"/>
          <a:lstStyle/>
          <a:p>
            <a:pPr algn="r" indent="0" marL="0">
              <a:buNone/>
            </a:pPr>
            <a:r>
              <a:rPr lang="en-US" sz="1000" dirty="0">
                <a:solidFill>
                  <a:schemeClr val="accent5"/>
                </a:solidFill>
              </a:rPr>
              <a:t>Tanay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731520" y="457200"/>
            <a:ext cx="10698480" cy="914400"/>
          </a:xfrm>
          <a:prstGeom prst="rect">
            <a:avLst/>
          </a:prstGeom>
          <a:noFill/>
          <a:ln/>
        </p:spPr>
        <p:txBody>
          <a:bodyPr wrap="square" lIns="0" tIns="0" rIns="0" bIns="0" rtlCol="0" anchor="ctr"/>
          <a:lstStyle/>
          <a:p>
            <a:pPr indent="0" marL="0">
              <a:buNone/>
            </a:pPr>
            <a:r>
              <a:rPr lang="en-US" sz="3600" b="1" dirty="0">
                <a:solidFill>
                  <a:schemeClr val="bg1"/>
                </a:solidFill>
                <a:latin typeface="Cambria" pitchFamily="34" charset="0"/>
                <a:ea typeface="Cambria" pitchFamily="34" charset="-122"/>
                <a:cs typeface="Cambria" pitchFamily="34" charset="-120"/>
              </a:rPr>
              <a:t>What could go wrong, and what's next</a:t>
            </a:r>
            <a:endParaRPr lang="en-US" sz="3600" dirty="0"/>
          </a:p>
        </p:txBody>
      </p:sp>
      <p:sp>
        <p:nvSpPr>
          <p:cNvPr id="3" name="Text 1"/>
          <p:cNvSpPr txBox="1"/>
          <p:nvPr/>
        </p:nvSpPr>
        <p:spPr>
          <a:xfrm>
            <a:off x="731520" y="1645920"/>
            <a:ext cx="5120640" cy="4389120"/>
          </a:xfrm>
          <a:prstGeom prst="rect">
            <a:avLst/>
          </a:prstGeom>
          <a:noFill/>
          <a:ln/>
        </p:spPr>
        <p:txBody>
          <a:bodyPr wrap="square" lIns="0" tIns="0" rIns="0" bIns="0" rtlCol="0" anchor="t"/>
          <a:lstStyle/>
          <a:p>
            <a:pPr indent="0" marL="0">
              <a:spcAft>
                <a:spcPts val="800"/>
              </a:spcAft>
              <a:buNone/>
            </a:pPr>
            <a:r>
              <a:rPr lang="en-US" sz="2000" b="1" dirty="0">
                <a:solidFill>
                  <a:schemeClr val="accent3"/>
                </a:solidFill>
              </a:rPr>
              <a:t>Risks</a:t>
            </a:r>
            <a:endParaRPr lang="en-US" sz="1600" dirty="0"/>
          </a:p>
          <a:p>
            <a:pPr marL="342900" indent="-342900">
              <a:spcAft>
                <a:spcPts val="800"/>
              </a:spcAft>
              <a:buSzPct val="100000"/>
              <a:buChar char="•"/>
            </a:pPr>
            <a:r>
              <a:rPr lang="en-US" sz="1600" dirty="0">
                <a:solidFill>
                  <a:schemeClr val="bg1"/>
                </a:solidFill>
              </a:rPr>
              <a:t>New products (under 10 buyers) are never suggested: about 1 in 10 of the new purchases we tested</a:t>
            </a:r>
            <a:endParaRPr lang="en-US" sz="1600" dirty="0"/>
          </a:p>
          <a:p>
            <a:pPr marL="342900" indent="-342900">
              <a:spcAft>
                <a:spcPts val="800"/>
              </a:spcAft>
              <a:buSzPct val="100000"/>
              <a:buChar char="•"/>
            </a:pPr>
            <a:r>
              <a:rPr lang="en-US" sz="1600" dirty="0">
                <a:solidFill>
                  <a:schemeClr val="bg1"/>
                </a:solidFill>
              </a:rPr>
              <a:t>New customers have no history, so they only get best sellers</a:t>
            </a:r>
            <a:endParaRPr lang="en-US" sz="1600" dirty="0"/>
          </a:p>
          <a:p>
            <a:pPr marL="342900" indent="-342900">
              <a:spcAft>
                <a:spcPts val="800"/>
              </a:spcAft>
              <a:buSzPct val="100000"/>
              <a:buChar char="•"/>
            </a:pPr>
            <a:r>
              <a:rPr lang="en-US" sz="1600" dirty="0">
                <a:solidFill>
                  <a:schemeClr val="bg1"/>
                </a:solidFill>
              </a:rPr>
              <a:t>Tested on one season, the run-up to Christmas 2011</a:t>
            </a:r>
            <a:endParaRPr lang="en-US" sz="1600" dirty="0"/>
          </a:p>
          <a:p>
            <a:pPr marL="342900" indent="-342900">
              <a:spcAft>
                <a:spcPts val="800"/>
              </a:spcAft>
              <a:buSzPct val="100000"/>
              <a:buChar char="•"/>
            </a:pPr>
            <a:r>
              <a:rPr lang="en-US" sz="1600" dirty="0">
                <a:solidFill>
                  <a:schemeClr val="bg1"/>
                </a:solidFill>
              </a:rPr>
              <a:t>Suggestions lean towards popular products</a:t>
            </a:r>
            <a:endParaRPr lang="en-US" sz="1600" dirty="0"/>
          </a:p>
          <a:p>
            <a:pPr marL="342900" indent="-342900">
              <a:spcAft>
                <a:spcPts val="800"/>
              </a:spcAft>
              <a:buSzPct val="100000"/>
              <a:buChar char="•"/>
            </a:pPr>
            <a:r>
              <a:rPr lang="en-US" sz="1600" dirty="0">
                <a:solidFill>
                  <a:schemeClr val="bg1"/>
                </a:solidFill>
              </a:rPr>
              <a:t>Tested on past orders only</a:t>
            </a:r>
            <a:endParaRPr lang="en-US" sz="1600" dirty="0"/>
          </a:p>
        </p:txBody>
      </p:sp>
      <p:sp>
        <p:nvSpPr>
          <p:cNvPr id="4" name="Text 2"/>
          <p:cNvSpPr txBox="1"/>
          <p:nvPr/>
        </p:nvSpPr>
        <p:spPr>
          <a:xfrm>
            <a:off x="6400800" y="1645920"/>
            <a:ext cx="5029200" cy="4389120"/>
          </a:xfrm>
          <a:prstGeom prst="rect">
            <a:avLst/>
          </a:prstGeom>
          <a:noFill/>
          <a:ln/>
        </p:spPr>
        <p:txBody>
          <a:bodyPr wrap="square" lIns="0" tIns="0" rIns="0" bIns="0" rtlCol="0" anchor="t"/>
          <a:lstStyle/>
          <a:p>
            <a:pPr indent="0" marL="0">
              <a:spcAft>
                <a:spcPts val="800"/>
              </a:spcAft>
              <a:buNone/>
            </a:pPr>
            <a:r>
              <a:rPr lang="en-US" sz="2000" b="1" dirty="0">
                <a:solidFill>
                  <a:schemeClr val="accent3"/>
                </a:solidFill>
              </a:rPr>
              <a:t>Next steps</a:t>
            </a:r>
            <a:endParaRPr lang="en-US" sz="1600" dirty="0"/>
          </a:p>
          <a:p>
            <a:pPr marL="342900" indent="-342900">
              <a:spcAft>
                <a:spcPts val="800"/>
              </a:spcAft>
              <a:buSzPct val="100000"/>
              <a:buChar char="•"/>
            </a:pPr>
            <a:r>
              <a:rPr lang="en-US" sz="1600" dirty="0">
                <a:solidFill>
                  <a:schemeClr val="bg1"/>
                </a:solidFill>
              </a:rPr>
              <a:t>Four-week A/B test of the box on part of the product pages</a:t>
            </a:r>
            <a:endParaRPr lang="en-US" sz="1600" dirty="0"/>
          </a:p>
          <a:p>
            <a:pPr marL="342900" indent="-342900">
              <a:spcAft>
                <a:spcPts val="800"/>
              </a:spcAft>
              <a:buSzPct val="100000"/>
              <a:buChar char="•"/>
            </a:pPr>
            <a:r>
              <a:rPr lang="en-US" sz="1600" dirty="0">
                <a:solidFill>
                  <a:schemeClr val="bg1"/>
                </a:solidFill>
              </a:rPr>
              <a:t>Fallbacks: category best sellers for new products and new customers</a:t>
            </a:r>
            <a:endParaRPr lang="en-US" sz="1600" dirty="0"/>
          </a:p>
          <a:p>
            <a:pPr marL="342900" indent="-342900">
              <a:spcAft>
                <a:spcPts val="800"/>
              </a:spcAft>
              <a:buSzPct val="100000"/>
              <a:buChar char="•"/>
            </a:pPr>
            <a:r>
              <a:rPr lang="en-US" sz="1600" dirty="0">
                <a:solidFill>
                  <a:schemeClr val="bg1"/>
                </a:solidFill>
              </a:rPr>
              <a:t>Marketing pilots one campaign per group</a:t>
            </a:r>
            <a:endParaRPr lang="en-US" sz="1600" dirty="0"/>
          </a:p>
          <a:p>
            <a:pPr marL="342900" indent="-342900">
              <a:spcAft>
                <a:spcPts val="800"/>
              </a:spcAft>
              <a:buSzPct val="100000"/>
              <a:buChar char="•"/>
            </a:pPr>
            <a:r>
              <a:rPr lang="en-US" sz="1600" dirty="0">
                <a:solidFill>
                  <a:schemeClr val="bg1"/>
                </a:solidFill>
              </a:rPr>
              <a:t>One-command rebuild (build_matrix.py) for the nightly run</a:t>
            </a:r>
            <a:endParaRPr lang="en-US" sz="1600" dirty="0"/>
          </a:p>
        </p:txBody>
      </p:sp>
      <p:sp>
        <p:nvSpPr>
          <p:cNvPr id="5" name="presenter"/>
          <p:cNvSpPr txBox="1"/>
          <p:nvPr/>
        </p:nvSpPr>
        <p:spPr>
          <a:xfrm>
            <a:off x="9326880" y="6400800"/>
            <a:ext cx="2286000" cy="274320"/>
          </a:xfrm>
          <a:prstGeom prst="rect">
            <a:avLst/>
          </a:prstGeom>
          <a:noFill/>
          <a:ln/>
        </p:spPr>
        <p:txBody>
          <a:bodyPr wrap="square" lIns="0" tIns="0" rIns="0" bIns="0" rtlCol="0" anchor="ctr"/>
          <a:lstStyle/>
          <a:p>
            <a:pPr algn="r" indent="0" marL="0">
              <a:buNone/>
            </a:pPr>
            <a:r>
              <a:rPr lang="en-US" sz="1000" dirty="0">
                <a:solidFill>
                  <a:schemeClr val="accent5"/>
                </a:solidFill>
              </a:rPr>
              <a:t>Both</a:t>
            </a:r>
            <a:endParaRPr lang="en-US" sz="1000" dirty="0"/>
          </a:p>
        </p:txBody>
      </p:sp>
      <p:sp>
        <p:nvSpPr>
          <p:cNvPr id="7" name="Text 0"/>
          <p:cNvSpPr/>
          <p:nvPr>
            <p:ph idx="100" type="title" hasCustomPrompt="1"/>
          </p:nvPr>
        </p:nvSpPr>
        <p:spPr>
          <a:xfrm>
            <a:off x="731520" y="2011680"/>
            <a:ext cx="10698480" cy="1188720"/>
          </a:xfrm>
          <a:prstGeom prst="rect">
            <a:avLst/>
          </a:prstGeom>
          <a:noFill/>
          <a:ln/>
        </p:spPr>
        <p:txBody>
          <a:bodyPr wrap="square" lIns="0" tIns="0" rIns="0" bIns="0" rtlCol="0" anchor="b"/>
          <a:lstStyle/>
          <a:p>
            <a:pPr indent="0" marL="0">
              <a:buNone/>
            </a:pPr>
            <a:endParaRPr lang="en-US" sz="4800" dirty="0"/>
          </a:p>
        </p:txBody>
      </p:sp>
      <p:sp>
        <p:nvSpPr>
          <p:cNvPr id="8" name="Text 0"/>
          <p:cNvSpPr/>
          <p:nvPr>
            <p:ph idx="101" type="body" hasCustomPrompt="1"/>
          </p:nvPr>
        </p:nvSpPr>
        <p:spPr>
          <a:xfrm>
            <a:off x="731520" y="3383280"/>
            <a:ext cx="10698480" cy="2011680"/>
          </a:xfrm>
          <a:prstGeom prst="rect">
            <a:avLst/>
          </a:prstGeom>
          <a:noFill/>
          <a:ln/>
        </p:spPr>
        <p:txBody>
          <a:bodyPr wrap="square" lIns="0" tIns="0" rIns="0" bIns="0" rtlCol="0" anchor="t"/>
          <a:lstStyle/>
          <a:p>
            <a:pPr indent="0" marL="0">
              <a:buNone/>
            </a:pPr>
            <a:endParaRPr lang="en-US" sz="2000" dirty="0"/>
          </a:p>
        </p:txBody>
      </p:sp>
    </p:spTree>
  </p:cSld>
  <p:clrMapOvr>
    <a:masterClrMapping/>
  </p:clrMapOvr>
</p:sld>
</file>

<file path=ppt/theme/theme1.xml><?xml version="1.0" encoding="utf-8"?>
<a:theme xmlns:a="http://schemas.openxmlformats.org/drawingml/2006/main" name="GiftLane">
  <a:themeElements>
    <a:clrScheme name="GiftLane">
      <a:dk1>
        <a:srgbClr val="2B2D42"/>
      </a:dk1>
      <a:lt1>
        <a:srgbClr val="FFFFFF"/>
      </a:lt1>
      <a:dk2>
        <a:srgbClr val="4A4E69"/>
      </a:dk2>
      <a:lt2>
        <a:srgbClr val="EEF1F4"/>
      </a:lt2>
      <a:accent1>
        <a:srgbClr val="B85042"/>
      </a:accent1>
      <a:accent2>
        <a:srgbClr val="6C8E7B"/>
      </a:accent2>
      <a:accent3>
        <a:srgbClr val="D9A441"/>
      </a:accent3>
      <a:accent4>
        <a:srgbClr val="4A6FA5"/>
      </a:accent4>
      <a:accent5>
        <a:srgbClr val="9AA0A6"/>
      </a:accent5>
      <a:accent6>
        <a:srgbClr val="8C5E58"/>
      </a:accent6>
      <a:hlink>
        <a:srgbClr val="4A6FA5"/>
      </a:hlink>
      <a:folHlink>
        <a:srgbClr val="6C8E7B"/>
      </a:folHlink>
    </a:clrScheme>
    <a:fontScheme name="GiftLan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Customers Like You</dc:title>
  <dc:subject>PptxGenJS Presentation</dc:subject>
  <dc:creator>Achintya Shah, Tanay Mihani</dc:creator>
  <cp:lastModifiedBy>Achintya Shah, Tanay Mihani</cp:lastModifiedBy>
  <cp:revision>1</cp:revision>
  <dcterms:created xsi:type="dcterms:W3CDTF">2026-10-12T21:16:29Z</dcterms:created>
  <dcterms:modified xsi:type="dcterms:W3CDTF">2026-10-12T21:16:29Z</dcterms:modified>
</cp:coreProperties>
</file>